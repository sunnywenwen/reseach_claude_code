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384048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640080"/>
            <a:ext cx="105156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</a:rPr>
              <a:t>Claude Code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965960"/>
            <a:ext cx="100584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0">
                <a:solidFill>
                  <a:srgbClr val="BBD6F8"/>
                </a:solidFill>
              </a:rPr>
              <a:t>Internal Mechanism Deep Dive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3858768"/>
            <a:ext cx="12188952" cy="5486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42519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Hsiang-Wen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773168"/>
            <a:ext cx="2743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55657A"/>
                </a:solidFill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22E"/>
                </a:solidFill>
              </a:rPr>
              <a:t>Agenda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3444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325880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D6FC8"/>
                </a:solidFill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13258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ReAct Loop — Claude Code 的基本運作方式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03911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130552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D6FC8"/>
                </a:solidFill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130552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工具總覽 — 依功能分群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84378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935224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D6FC8"/>
                </a:solidFill>
              </a:rPr>
              <a:t>03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35224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Claude Code 怎麼寫 Code — 流程與每步驟的設計優勢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64845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739896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D6FC8"/>
                </a:solidFill>
              </a:rPr>
              <a:t>04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739896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Tool 特性深入說明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45312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544568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D6FC8"/>
                </a:solidFill>
              </a:rPr>
              <a:t>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544568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Permission 系統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2578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349240"/>
            <a:ext cx="685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1D6FC8"/>
                </a:solidFill>
              </a:rPr>
              <a:t>06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349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1A222E"/>
                </a:solidFill>
              </a:rPr>
              <a:t>Takeaways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22E"/>
                </a:solidFill>
              </a:rPr>
              <a:t>01  ReAct Loop — Claude Code 的基本運作方式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657A"/>
                </a:solidFill>
              </a:rPr>
              <a:t>使用者輸入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13055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8" name="Rectangle 7"/>
          <p:cNvSpPr/>
          <p:nvPr/>
        </p:nvSpPr>
        <p:spPr>
          <a:xfrm>
            <a:off x="224028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24028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D6FC8"/>
                </a:solidFill>
              </a:rPr>
              <a:t>LLM 推理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91363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057A50"/>
                </a:solidFill>
              </a:rPr>
              <a:t>Tool Call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9671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80644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0644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B45A00"/>
                </a:solidFill>
              </a:rPr>
              <a:t>Tool Result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7979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58952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1D6FC8"/>
                </a:solidFill>
              </a:rPr>
              <a:t>LLM 推理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62872" y="1316736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55657A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72600" y="1207008"/>
            <a:ext cx="1664208" cy="62179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372600" y="1207008"/>
            <a:ext cx="1664208" cy="6217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55657A"/>
                </a:solidFill>
              </a:rPr>
              <a:t>…直到完成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01168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10312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重要特性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2487168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單次 LLM 推理可在同一個 content 陣列中同時產生 text + 多個 tool_use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2962656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多個 tool_use 批次發出 → 平行執行 → 所有結果一起回來 → 才進行下一次推理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3438144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Loop 終止條件：LLM 推理產生的回應不含任何 tool_use，控制權回到使用者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3913632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Background Bash（run_in_background）不阻塞推理，結果以非同步通知送達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4389120"/>
            <a:ext cx="1115568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Subagent 有自己獨立的 agentic loop，不佔主 agent 的推理次數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22E"/>
                </a:solidFill>
              </a:rPr>
              <a:t>02  工具總覽 (1/2) — Pre-loaded 工具（9 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657A"/>
                </a:solidFill>
              </a:rPr>
              <a:t>Session 開始即載入 schema，可直接呼叫，零延遲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1274552" cy="3657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1179576"/>
            <a:ext cx="1874519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79" y="1179576"/>
            <a:ext cx="1234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權限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76472" y="1179576"/>
            <a:ext cx="8321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一句說明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9961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48640" y="1563624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6FC8"/>
                </a:solidFill>
              </a:rPr>
              <a:t>Read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468879" y="1563624"/>
            <a:ext cx="1234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D6FC8"/>
                </a:solidFill>
              </a:rPr>
              <a:t>auto-allow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76472" y="1563624"/>
            <a:ext cx="8321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讀取本地檔案；支援圖片（base64）、PDF（分頁）、ipynb（解析 cells）；硬上限 25k tokens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01168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48640" y="2075688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6FC8"/>
                </a:solidFill>
              </a:rPr>
              <a:t>Glob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68879" y="2075688"/>
            <a:ext cx="1234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D6FC8"/>
                </a:solidFill>
              </a:rPr>
              <a:t>auto-allow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76472" y="2075688"/>
            <a:ext cx="8321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用 glob pattern 搜尋符合條件的檔案路徑，結果依修改時間排序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52374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2587752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6FC8"/>
                </a:solidFill>
              </a:rPr>
              <a:t>Grep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68879" y="2587752"/>
            <a:ext cx="1234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D6FC8"/>
                </a:solidFill>
              </a:rPr>
              <a:t>auto-allow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776472" y="2587752"/>
            <a:ext cx="8321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直接 spawn ripgrep 搜尋檔案內容（bypass shell，無注入風險，支援 regex）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03580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8640" y="3099816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ToolSearch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68879" y="3099816"/>
            <a:ext cx="1234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1D6FC8"/>
                </a:solidFill>
              </a:rPr>
              <a:t>auto-allow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776472" y="3099816"/>
            <a:ext cx="8321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將 deferred 工具的 schema 載入 context，讓 Claude 能夠呼叫它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54787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48640" y="3611880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7A50"/>
                </a:solidFill>
              </a:rPr>
              <a:t>Edit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468879" y="3611880"/>
            <a:ext cx="1234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需確認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776472" y="3611880"/>
            <a:ext cx="8321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精確 old_string→new_string 替換；old_string 必須唯一；只傳 diff，token 消耗最少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05993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8640" y="4123944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7A50"/>
                </a:solidFill>
              </a:rPr>
              <a:t>Write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468879" y="4123944"/>
            <a:ext cx="1234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需確認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76472" y="4123944"/>
            <a:ext cx="8321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覆寫整個檔案內容；適合新建檔案或完全重寫；自動計算 diff 顯示給使用者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5720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48640" y="4636008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45A00"/>
                </a:solidFill>
              </a:rPr>
              <a:t>Bash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468879" y="4636008"/>
            <a:ext cx="1234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需確認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76472" y="4636008"/>
            <a:ext cx="8321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執行任意 shell 命令；支援 run_in_background（完成後以 task-notification 通知）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08406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48640" y="5148072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Agent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468879" y="5148072"/>
            <a:ext cx="1234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需確認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776472" y="5148072"/>
            <a:ext cx="8321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啟動有獨立 context 的 subagent（可用不同 model）執行複雜子任務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559612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48640" y="5660136"/>
            <a:ext cx="1874519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Skill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68879" y="5660136"/>
            <a:ext cx="12344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55657A"/>
                </a:solidFill>
              </a:rPr>
              <a:t>需確認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776472" y="5660136"/>
            <a:ext cx="83210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呼叫 .claude/skills/ 中定義的自訂指令集；LLM 接收展開後的內容再推理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610819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22E"/>
                </a:solidFill>
              </a:rPr>
              <a:t>02  工具總覽 (2/2) — Deferred（16 個）+ MCP（2 個）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657A"/>
                </a:solidFill>
              </a:rPr>
              <a:t>Deferred 需先 ToolSearch 載入 schema（+1 round-trip）；MCP 由外部 server 提供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15568"/>
            <a:ext cx="11274552" cy="32918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1170432"/>
            <a:ext cx="2377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5657A"/>
                </a:solidFill>
              </a:rPr>
              <a:t>工具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926079" y="1170432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5657A"/>
                </a:solidFill>
              </a:rPr>
              <a:t>群組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04487" y="1170432"/>
            <a:ext cx="8183879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55657A"/>
                </a:solidFill>
              </a:rPr>
              <a:t>一句說明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46304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508760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657A"/>
                </a:solidFill>
              </a:rPr>
              <a:t>AskUserQuestion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26079" y="1508760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互動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04487" y="1508760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主動向使用者提問並等待回答（唯一能讓 Claude 暫停等待輸入的工具）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181965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1865376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WebFetch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26079" y="1865376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唯讀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04487" y="1865376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抓取指定 URL 的網頁內容，HTML 自動轉 markdown 後回傳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17627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2221992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WebSearch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26079" y="2221992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唯讀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04487" y="2221992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搜尋網路，取得超出 training data 的最新資訊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253288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" y="2578608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57A50"/>
                </a:solidFill>
              </a:rPr>
              <a:t>NotebookEdit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26079" y="2578608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寫入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904487" y="2578608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編輯 Jupyter notebook cell（.ipynb 必須用此；直接 Edit 會報錯）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288950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02920" y="2935224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1B6"/>
                </a:solidFill>
              </a:rPr>
              <a:t>EnterPlanMode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26079" y="2935224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規劃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904487" y="2935224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進入 Plan 模式；計畫存至 ~/.claude/plans/{slug}.md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324612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02920" y="3291840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1B6"/>
                </a:solidFill>
              </a:rPr>
              <a:t>ExitPlanMode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26079" y="3291840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規劃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904487" y="3291840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離開 Plan 模式，提交計畫給使用者審核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360273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02920" y="3648456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B21B6"/>
                </a:solidFill>
              </a:rPr>
              <a:t>EnterWorktree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926079" y="3648456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隔離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904487" y="3648456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在 .claude/worktrees/ 建立隔離的 git worktree 環境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395935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502920" y="4005072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TaskCreate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926079" y="4005072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任務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3904487" y="4005072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建立新的使用者任務（ID 為數字，如 1）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431596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02920" y="4361688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TaskUpdate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926079" y="4361688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任務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904487" y="4361688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更新任務的狀態或內容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57200" y="467258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4718304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TaskStop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26079" y="4718304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任務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904487" y="4718304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停止指定的背景 Bash 任務（ID 為 hash，如 bz6r...；無法停 TaskCreate 任務）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7200" y="50292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5074920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CronCreate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2926079" y="5074920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排程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3904487" y="5074920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建立定時排程（session-only，Claude 退出後消失）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57200" y="538581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02920" y="5431536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AA1818"/>
                </a:solidFill>
              </a:rPr>
              <a:t>CronDelete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26079" y="5431536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排程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904487" y="5431536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刪除指定排程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7200" y="5742431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02920" y="5788151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TaskGet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926079" y="5788151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唯讀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3904487" y="5788151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取得指定任務的詳細資訊</a:t>
            </a:r>
          </a:p>
        </p:txBody>
      </p:sp>
      <p:sp>
        <p:nvSpPr>
          <p:cNvPr id="62" name="Rectangle 61"/>
          <p:cNvSpPr/>
          <p:nvPr/>
        </p:nvSpPr>
        <p:spPr>
          <a:xfrm>
            <a:off x="457200" y="6099047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6144767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TaskList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26079" y="6144767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唯讀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904487" y="6144767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列出所有使用者任務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7200" y="645566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502920" y="6501383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TaskOutput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26079" y="6501383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唯讀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904487" y="6501383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讀取背景 Bash 任務的標準輸出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57200" y="681227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02920" y="6857999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CronList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926079" y="6857999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55657A"/>
                </a:solidFill>
              </a:rPr>
              <a:t>唯讀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904487" y="6857999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列出目前 session 中所有排程任務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7200" y="7168895"/>
            <a:ext cx="11274552" cy="54864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02920" y="7242047"/>
            <a:ext cx="3657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E7A8E"/>
                </a:solidFill>
              </a:rPr>
              <a:t>MCP（需外部 server 連線）</a:t>
            </a:r>
          </a:p>
        </p:txBody>
      </p:sp>
      <p:sp>
        <p:nvSpPr>
          <p:cNvPr id="76" name="Rectangle 75"/>
          <p:cNvSpPr/>
          <p:nvPr/>
        </p:nvSpPr>
        <p:spPr>
          <a:xfrm>
            <a:off x="457200" y="7516367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02920" y="7562088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mcp__ide__getDiagnostics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926079" y="7562088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E7A8E"/>
                </a:solidFill>
              </a:rPr>
              <a:t>MCP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904487" y="7562088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取得 IDE（VS Code / JetBrains）的 lint／type 錯誤診斷資訊</a:t>
            </a:r>
          </a:p>
        </p:txBody>
      </p:sp>
      <p:sp>
        <p:nvSpPr>
          <p:cNvPr id="80" name="Rectangle 79"/>
          <p:cNvSpPr/>
          <p:nvPr/>
        </p:nvSpPr>
        <p:spPr>
          <a:xfrm>
            <a:off x="457200" y="787298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02920" y="7918704"/>
            <a:ext cx="237744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0E7A8E"/>
                </a:solidFill>
              </a:rPr>
              <a:t>mcp__ide__executeCode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926079" y="7918704"/>
            <a:ext cx="914400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E7A8E"/>
                </a:solidFill>
              </a:rPr>
              <a:t>MCP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904487" y="7918704"/>
            <a:ext cx="8183879" cy="3566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在 IDE 環境執行指定程式碼片段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57200" y="82296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22E"/>
                </a:solidFill>
              </a:rPr>
              <a:t>03  Claude Code 怎麼寫 Code — 流程與設計優勢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987552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55657A"/>
                </a:solidFill>
              </a:rPr>
              <a:t>為何 Claude Code 是當前最強 code agent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170432"/>
            <a:ext cx="11274552" cy="32918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197864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6FC8"/>
                </a:solidFill>
              </a:rPr>
              <a:t>①  探索  ·  Glob / Grep /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17904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    • Glob：pattern 搜尋，直接拿到目標路徑，不走 shell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865376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    • Grep：直接 spawn ripgrep binary，bypass shell，不需 Bash 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2212848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    • Read：預載、預設 auto-allow，不需使用者確認，直接讀，速度最快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560320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    • 三者都是唯讀，預設自動允許 → 零中斷探索整個 codebase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035808"/>
            <a:ext cx="11274552" cy="32918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66928" y="3063239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7A50"/>
                </a:solidFill>
              </a:rPr>
              <a:t>②  修改  ·  Edit / Write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383279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    • Edit：只傳 old_string→new_string diff，token 消耗極少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3730752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    • old_string 唯一性強制驗證 → 確保修改位置精準，不會誤改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4078224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    • Write：整個檔案覆寫，適合新建或完全重寫，自動產生 diff 給使用者確認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425696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    • 兩者都鎖定工作目錄範圍，不會意外修改到其他地方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901183"/>
            <a:ext cx="11274552" cy="329184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4928616"/>
            <a:ext cx="10972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B45A00"/>
                </a:solidFill>
              </a:rPr>
              <a:t>③  驗證  ·  Bash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248655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    • 跑測試、build、lint，確認修改正確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596127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    • run_in_background：長時間命令不阻塞，Claude 可繼續其他推理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943599"/>
            <a:ext cx="10972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    • structured exit code：0 成功，非 0 觸發 Claude 自動分析錯誤並修正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6510527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02920" y="6583679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1D6FC8"/>
                </a:solidFill>
              </a:rPr>
              <a:t>結果：每一步工具都針對「最少確認次數 + 最少 token 消耗 + 最精準操作」最佳化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22E"/>
                </a:solidFill>
              </a:rPr>
              <a:t>04  Tool 特性 — Pre-loaded vs Deferred vs MCP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88720"/>
            <a:ext cx="11274552" cy="41148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12064" y="1216152"/>
            <a:ext cx="10972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分類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700784" y="1216152"/>
            <a:ext cx="100584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數量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98064" y="121615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Schema 載入時機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84064" y="121615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代表工具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741664" y="121615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特性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164592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2064" y="1737360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Pre-loaded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00784" y="1737360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798064" y="1737360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Session 開始即載入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84064" y="1737360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Read, Edit, Glob, Grep, Bash, Agent, Skill, Write, ToolSearch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741664" y="173736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657A"/>
                </a:solidFill>
              </a:rPr>
              <a:t>零延遲，直接呼叫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221284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" y="2304288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Deferred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00784" y="2304288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16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798064" y="2304288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需先呼叫 ToolSearch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84064" y="2304288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WebFetch, WebSearch, AskUserQuestion, NotebookEdit, EnterPlanMode...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41664" y="230428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657A"/>
                </a:solidFill>
              </a:rPr>
              <a:t>省 token，多一次 round-trip（~2-3 秒）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277977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2064" y="2871216"/>
            <a:ext cx="1097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B45A00"/>
                </a:solidFill>
              </a:rPr>
              <a:t>MCP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00784" y="2871216"/>
            <a:ext cx="1005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不定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798064" y="2871216"/>
            <a:ext cx="21945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Server 連線時載入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84064" y="2871216"/>
            <a:ext cx="3474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A222E"/>
                </a:solidFill>
              </a:rPr>
              <a:t>mcp__ide__getDiagnostics, mcp__ide__executeCode, ...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741664" y="287121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55657A"/>
                </a:solidFill>
              </a:rPr>
              <a:t>由外部 server 提供，未連線時不存在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57200" y="334670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57200" y="348386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TOOLSEARCH 的角色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3822191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唯一預載的「載入其他工具」的 meta 工具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261104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用法：ToolSearch("select:WebFetch") 或 ToolSearch("list directory")（關鍵字搜尋）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4700016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同一 session 內載入一次即可，不需重複呼叫；跨 session 需重新載入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22E"/>
                </a:solidFill>
              </a:rPr>
              <a:t>04  Tool 特性 — Read / Edit / Write vs Bash 的本質差異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為什麼有 READ/EDIT/WRITE，不直接用 BASH？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417320"/>
            <a:ext cx="11274552" cy="3840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44752"/>
            <a:ext cx="28346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面向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456432" y="1444752"/>
            <a:ext cx="47548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Read / Write / Edit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02752" y="1444752"/>
            <a:ext cx="3749039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Bash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8288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90195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預設權限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1901952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Read auto-allow；Write/Edit 分開設定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02752" y="1901952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全部需要 prefix / exact / wildcard 規則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34086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41401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匹配邏輯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56432" y="2414016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filePatternTools（路徑型）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02752" y="241401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bashPrefixTools（命令型）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85292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926080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Token 限制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56432" y="2926080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Read：硬上限 25,000 tokens，超過回 error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02752" y="2926080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無強制限制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36499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438144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Diff 顯示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56432" y="3438144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自動計算 structuredPatch + gitDiff 給使用者看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02752" y="3438144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無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87705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2" y="3950208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寫入範圍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456432" y="3950208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鎖定工作目錄及子目錄（框架層強制）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02752" y="3950208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不限制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38912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30352" y="4462272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特殊格式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56432" y="4462272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圖片（base64）/ .ipynb（解析 cells）/ PDF（分頁）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4462272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只有純文字 / bytes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7200" y="490118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30352" y="4974336"/>
            <a:ext cx="27432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5657A"/>
                </a:solidFill>
              </a:rPr>
              <a:t>注入風險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456432" y="4974336"/>
            <a:ext cx="466344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1D6FC8"/>
                </a:solidFill>
              </a:rPr>
              <a:t>無，參數由 framework 組裝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02752" y="4974336"/>
            <a:ext cx="3657599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B45A00"/>
                </a:solidFill>
              </a:rPr>
              <a:t>命令字串經過 shell 解析，有注入風險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57200" y="541324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57200" y="5522976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57A50"/>
                </a:solidFill>
              </a:rPr>
              <a:t>EDIT VS WRITE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5870448"/>
            <a:ext cx="111556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Edit：精確字串替換（old→new），只傳 diff，token 少，old_string 必須唯一否則報錯，日常修改首選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6281928"/>
            <a:ext cx="11155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Write：整個檔案覆寫，適合新建檔案或完全重寫，token 消耗多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22E"/>
                </a:solidFill>
              </a:rPr>
              <a:t>04  Tool 特性 — Skill 系統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SKILL 是什麼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38988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放在 .claude/skills/&lt;name&gt;/SKILL.md 的 Markdown 指令檔，告訴 Claude 如何完成特定任務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4708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1A222E"/>
                </a:solidFill>
              </a:rPr>
              <a:t>• 可附帶腳本，在展開給 LLM 之前先預處理資料（! 前綴命令）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340864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4231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兩種觸發方式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788920"/>
            <a:ext cx="5394960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816352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6FC8"/>
                </a:solidFill>
              </a:rPr>
              <a:t>Trigger A  /skill-name  （使用者輸入）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163824"/>
            <a:ext cx="5166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CLI 在框架層讀取 SKILL.md，展開為 isMeta:true 訊息注入 context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584448"/>
            <a:ext cx="516636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Claude 不需呼叫 Skill tool，直接看到展開後的指令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2788920"/>
            <a:ext cx="5422392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9088" y="281635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B21B6"/>
                </a:solidFill>
              </a:rPr>
              <a:t>Trigger B  Skill tool  （Claude 主動呼叫）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9088" y="3163824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Claude 先 ToolSearch 載入 Skill schema，再呼叫 Skill("name", args)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3584448"/>
            <a:ext cx="521208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Framework 處理 SKILL.md → tool_result 回傳給 LLM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405993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4133087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AA1818"/>
                </a:solidFill>
              </a:rPr>
              <a:t>重要設計差異：ALLOWED-TOOLS VS AGENT 工具隔離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49884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Skill allowed-tools = 軟性：自動允許列出的工具，但 LLM 仍可呼叫其他工具（需使用者確認）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495604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Agent tools = 硬性：API 層隔離，LLM 根本看不到白名單以外的工具 schema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413248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! 前綴命令：Framework 執行後再注入，LLM 看不到原始命令，用於大量資料預處理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22E"/>
                </a:solidFill>
              </a:rPr>
              <a:t>04  Tool 特性 — Agent Tool（Subagent）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5 種 SUBAGENT_TYPE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11274552" cy="36576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30352" y="1417320"/>
            <a:ext cx="25603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subagent_type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82112" y="1417320"/>
            <a:ext cx="3566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可用工具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39712" y="1417320"/>
            <a:ext cx="475488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55657A"/>
                </a:solidFill>
              </a:rPr>
              <a:t>用途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8308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30352" y="1856231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general-purpose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82112" y="185623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全部工具（*）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39712" y="1856231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通用型，複雜多步驟任務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2860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" y="235915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Explore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182112" y="235915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除 Agent, ExitPlanMode, Edit, Write 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39712" y="2359152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快速探索 codebase；3 種深度（quick/medium/very thorough）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278892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0352" y="2862072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Plan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2862072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同 Explore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39712" y="2862072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架構規劃，回傳 step-by-step 實作計畫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329183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30352" y="3364991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claude-code-guide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82112" y="336499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Glob, Grep, Read, WebFetch, WebSearch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839712" y="3364991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回答 Claude Code / SDK / API 問題；支援 resume 繼續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7200" y="379475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2" y="3867911"/>
            <a:ext cx="25603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statusline-setup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182112" y="3867911"/>
            <a:ext cx="35661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Read, Edit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839712" y="3867911"/>
            <a:ext cx="47548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1A222E"/>
                </a:solidFill>
              </a:rPr>
              <a:t>設定 Claude Code status line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29767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57200" y="4407407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關鍵特性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754879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獨立 context：每個 subagent 有自己的 context window，不共享主 agent 對話歷史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5193792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不同 model：實測 Explore 使用 claude-haiku（快/省錢），主 agent 使用 claude-sonnet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7200" y="5632704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結果包含 totalDurationMs / totalTokens / totalToolUseCount — 完整成本追蹤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" y="6071616"/>
            <a:ext cx="111556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agentId 可 resume：下次呼叫帶入 resume 參數可繼續同一個 subagent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22E"/>
                </a:solidFill>
              </a:rPr>
              <a:t>04  Tool 特性 — Hooks（事件驅動擴充）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21 種支援事件（來源：BINARY 2.1.72）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8988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PreToolUse / PostToolUse / PostToolUseFailure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75564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UserPromptSubmit / Notification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12140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SessionStart / SessionEnd / 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487168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SubagentStart / SubagentStop / TeammateIdle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852927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PreCompact / PermissionRequest / Setup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218687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TaskCompleted / Elicitation / ElicitationResult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584447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• ConfigChange / WorktreeCreate / WorktreeRemove / InstructionsLoaded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4023359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" y="4133087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兩種 HOOK 類型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7200" y="4480559"/>
            <a:ext cx="5394960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66928" y="4507992"/>
            <a:ext cx="51663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57A50"/>
                </a:solidFill>
              </a:rPr>
              <a:t>command type  （執行 shell 命令）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864607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  • command（必填）：執行的 shell 命令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212079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  • async：背景執行，不阻塞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559551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  • asyncRewake：背景執行，exit code 2 時喚醒 model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907023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  • once：執行一次後自動移除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254495"/>
            <a:ext cx="5166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  • timeout / statusMessage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4480559"/>
            <a:ext cx="5422392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19088" y="4507992"/>
            <a:ext cx="52120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5B21B6"/>
                </a:solidFill>
              </a:rPr>
              <a:t>prompt type  （LLM 評估）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19088" y="4864607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  • prompt（必填）：提示文字，$ARGUMENTS 取 hook 輸入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19088" y="5212079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  • model：指定 model（預設用小型快速 model）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19088" y="5559551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A222E"/>
                </a:solidFill>
              </a:rPr>
              <a:t>  • once / timeout / statusMessage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22E"/>
                </a:solidFill>
              </a:rPr>
              <a:t>05  Permission 系統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051560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兩個層次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389888"/>
            <a:ext cx="11274552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66928" y="1417320"/>
            <a:ext cx="54864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D6FC8"/>
                </a:solidFill>
              </a:rPr>
              <a:t>Layer 1  工具權限（可設定）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764792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permissions.allow / deny 設定於 settings.json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185416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格式：工具名稱 "Edit"，帶參數 "Bash(git:*)"，domain "WebFetch(domain:docs.anthropic.com)"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651760"/>
            <a:ext cx="11274552" cy="347472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2679192"/>
            <a:ext cx="6400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AA1818"/>
                </a:solidFill>
              </a:rPr>
              <a:t>Layer 2  判斷性確認（不可關閉）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3026664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Claude 自行判斷：操作超出請求範圍、發現非預期狀態、請求模糊時會主動暫停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3447288"/>
            <a:ext cx="11064240" cy="4206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無法透過設定關閉，這是 Claude 本身的風險評估，不是規則系統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91363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3986784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D6FC8"/>
                </a:solidFill>
              </a:rPr>
              <a:t>BASH 匹配邏輯（來源：BINARY 函數逆向）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4334256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prefix  Bash(git:*)  →  匹配 "git"、"git status"、"xargs git"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91456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exact   Bash(git status)  →  只匹配完全相符的字串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5248656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wildcard  Bash(git *)  →  glob 模式匹配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705856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• 安全設計：複合命令（&amp;&amp;, ||, ;, |）永遠不匹配 prefix 規則 → 防止 "git status &amp;&amp; rm -rf /" 越獄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623620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6291072"/>
            <a:ext cx="3657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D6FC8"/>
                </a:solidFill>
              </a:rPr>
              <a:t>PERMISSION MODES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56539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6FC8"/>
                </a:solidFill>
              </a:rPr>
              <a:t>default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68880" y="6565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預設，需確認才執行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80559" y="6565392"/>
            <a:ext cx="19202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D6FC8"/>
                </a:solidFill>
              </a:rPr>
              <a:t>acceptEdits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19" y="656539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55657A"/>
                </a:solidFill>
              </a:rPr>
              <a:t>自動接受檔案編輯，Bash 仍需確認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91440"/>
          </a:xfrm>
          <a:prstGeom prst="rect">
            <a:avLst/>
          </a:prstGeom>
          <a:solidFill>
            <a:srgbClr val="1D6FC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64592"/>
            <a:ext cx="111556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A222E"/>
                </a:solidFill>
              </a:rPr>
              <a:t>06  Takeaways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91440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57200" y="117043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261872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1D6FC8"/>
                </a:solidFill>
              </a:rPr>
              <a:t>Agentic Loop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71800" y="1261872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批次 tool call 平行執行，不含 tool_use 才停止。Subagent 有獨立 loop，不佔主 agent 的推理次數。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92024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11680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057A50"/>
                </a:solidFill>
              </a:rPr>
              <a:t>工具設計哲學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971800" y="2011680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讀取工具預載且 auto-allow → 零中斷探索。Edit 只傳 diff → token 最少。每個工具都針對最少確認次數、最精準操作最佳化。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70048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761488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B45A00"/>
                </a:solidFill>
              </a:rPr>
              <a:t>Pre-loaded vs Deferred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71800" y="2761488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9 個預載（零延遲）vs 16 個延遲載入（省 token，透過 ToolSearch，+2-3 秒）。根據使用頻率權衡 latency 與 token budget。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419856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511296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B21B6"/>
                </a:solidFill>
              </a:rPr>
              <a:t>Skill &amp; Agent 的隔離差異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71800" y="3511296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Skill allowed-tools 是軟性（context 共享，只是自動允許）。Agent tools 是硬性 API 層隔離（LLM 根本看不到其他工具 schema）。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169663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261103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AA1818"/>
                </a:solidFill>
              </a:rPr>
              <a:t>Permission 安全設計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71800" y="4261103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複合命令永遠不匹配 prefix 規則（binary 逆向確認），防止越獄。Layer 2 判斷性確認無法用設定關閉。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4919472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010912"/>
            <a:ext cx="237744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 i="0">
                <a:solidFill>
                  <a:srgbClr val="55657A"/>
                </a:solidFill>
              </a:rPr>
              <a:t>觀察方式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971800" y="5010912"/>
            <a:ext cx="8732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1A222E"/>
                </a:solidFill>
              </a:rPr>
              <a:t>所有機制都可透過三種方式交叉驗證：真實 Session JSONL（runtime ground truth）、Claude Code binary 原始碼（函數邏輯）、官網文件（設計意圖）。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57200" y="5669280"/>
            <a:ext cx="11274552" cy="41148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