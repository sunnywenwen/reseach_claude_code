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BD6F8"/>
                </a:solidFill>
              </a:rPr>
              <a:t>Internal Mechanism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858768"/>
            <a:ext cx="12188952" cy="54864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Hsiang-Wen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73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57A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22E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6FC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ReAct Loop — Claude Code 的基本運作方式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3911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0552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6FC8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305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工具總覽 — 依功能分群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43784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35224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6FC8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3522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Claude Code 怎麼寫 Code — 流程與每步驟的設計優勢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4845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39896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6FC8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3989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Tool 特性深入說明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5312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44568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6FC8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445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Permission 系統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578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34924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6FC8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49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222E"/>
                </a:solidFill>
              </a:rPr>
              <a:t>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22E"/>
                </a:solidFill>
              </a:rPr>
              <a:t>01  ReAct Loop — Claude Code 的基本運作方式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664208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6642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使用者輸入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0552" y="131673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07008"/>
            <a:ext cx="1664208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207008"/>
            <a:ext cx="16642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6FC8"/>
                </a:solidFill>
              </a:rPr>
              <a:t>LLM 推理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131673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207008"/>
            <a:ext cx="1664208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207008"/>
            <a:ext cx="16642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7A50"/>
                </a:solidFill>
              </a:rPr>
              <a:t>Tool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6712" y="131673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207008"/>
            <a:ext cx="1664208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207008"/>
            <a:ext cx="16642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45A00"/>
                </a:solidFill>
              </a:rPr>
              <a:t>Tool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131673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207008"/>
            <a:ext cx="1664208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207008"/>
            <a:ext cx="16642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6FC8"/>
                </a:solidFill>
              </a:rPr>
              <a:t>LLM 推理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131673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1207008"/>
            <a:ext cx="1664208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207008"/>
            <a:ext cx="16642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7A"/>
                </a:solidFill>
              </a:rPr>
              <a:t>…直到完成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01168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重要特性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48716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22E"/>
                </a:solidFill>
              </a:rPr>
              <a:t>• 單次 LLM 推理可在同一個 content 陣列中同時產生 text + 多個 tool_use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962656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22E"/>
                </a:solidFill>
              </a:rPr>
              <a:t>• 多個 tool_use 批次發出 → 平行執行 → 所有結果一起回來 → 才進行下一次推理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4381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22E"/>
                </a:solidFill>
              </a:rPr>
              <a:t>• Loop 終止條件：LLM 推理產生的回應不含任何 tool_use，控制權回到使用者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91363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22E"/>
                </a:solidFill>
              </a:rPr>
              <a:t>• Background Bash（run_in_background）不阻塞推理，結果以非同步通知送達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8912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22E"/>
                </a:solidFill>
              </a:rPr>
              <a:t>• Subagent 有自己獨立的 agentic loop，不佔主 agent 的推理次數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22E"/>
                </a:solidFill>
              </a:rPr>
              <a:t>02  工具總覽 — 依功能分群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D6FC8"/>
                </a:solidFill>
              </a:rPr>
              <a:t>唯讀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533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Read, Glob, Grep, WebFetch, WebSearch,
TaskGet, TaskList, TaskOutput, CronList, mcp__ide__getDiagnostics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75104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6654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57A50"/>
                </a:solidFill>
              </a:rPr>
              <a:t>寫入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66544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Edit, Write, NotebookEdit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8833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7977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45A00"/>
                </a:solidFill>
              </a:rPr>
              <a:t>執行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779776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Bash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9300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B21B6"/>
                </a:solidFill>
              </a:rPr>
              <a:t>規劃 / 隔離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49300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EnterPlanMode, ExitPlanMode, EnterWorktree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A1818"/>
                </a:solidFill>
              </a:rPr>
              <a:t>任務管理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2062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TaskCreate, TaskUpdate, TaskStop, CronCreate, CronDelete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2803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1947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5657A"/>
                </a:solidFill>
              </a:rPr>
              <a:t>互動 / Meta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91947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AskUserQuestion, ToolSearch, Skill,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41264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89788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6FC8"/>
                </a:solidFill>
              </a:rPr>
              <a:t>載入方式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9893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Pre-loaded（9 個，session 開始就在 context）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9893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Deferred（16 個，需先 ToolSearch 載入 schema）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22E"/>
                </a:solidFill>
              </a:rPr>
              <a:t>03  Claude Code 怎麼寫 Code — 流程與設計優勢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657A"/>
                </a:solidFill>
              </a:rPr>
              <a:t>為何 Claude Code 是當前最強 code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74552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97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6FC8"/>
                </a:solidFill>
              </a:rPr>
              <a:t>①  探索  ·  Glob / Grep /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    • Glob：pattern 搜尋，直接拿到目標路徑，不走 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653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    • Grep：直接 spawn ripgrep binary，bypass shell，不需 Bash 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128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    • Read：預載、預設 auto-allow，不需使用者確認，直接讀，速度最快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    • 三者都是唯讀，預設自動允許 → 零中斷探索整個 codebase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35808"/>
            <a:ext cx="11274552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063239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7A50"/>
                </a:solidFill>
              </a:rPr>
              <a:t>②  修改  ·  Edit / 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38327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    • Edit：只傳 old_string→new_string diff，token 消耗極少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7307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    • old_string 唯一性強制驗證 → 確保修改位置精準，不會誤改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07822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    • Write：整個檔案覆寫，適合新建或完全重寫，自動產生 diff 給使用者確認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42569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    • 兩者都鎖定工作目錄範圍，不會意外修改到其他地方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01183"/>
            <a:ext cx="11274552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9286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45A00"/>
                </a:solidFill>
              </a:rPr>
              <a:t>③  驗證  ·  Bash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248655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    • 跑測試、build、lint，確認修改正確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596127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    • run_in_background：長時間命令不阻塞，Claude 可繼續其他推理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4359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    • structured exit code：0 成功，非 0 觸發 Claude 自動分析錯誤並修正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510527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83679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6FC8"/>
                </a:solidFill>
              </a:rPr>
              <a:t>結果：每一步工具都針對「最少確認次數 + 最少 token 消耗 + 最精準操作」最佳化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22E"/>
                </a:solidFill>
              </a:rPr>
              <a:t>04  Tool 特性 — Pre-loaded vs Deferred vs 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4114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2161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分類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0784" y="12161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數量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12161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Schema 載入時機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4064" y="12161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代表工具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1216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特性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Pre-loaded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0784" y="17373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Session 開始即載入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Read, Edit, Glob, Grep, Bash, Agent, Skill, Write, ToolSearch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1664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A"/>
                </a:solidFill>
              </a:rPr>
              <a:t>零延遲，直接呼叫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1284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230428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7A50"/>
                </a:solidFill>
              </a:rPr>
              <a:t>Deferred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0784" y="230428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8064" y="23042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需先呼叫 ToolSearch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304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WebFetch, WebSearch, AskUserQuestion, NotebookEdit, EnterPlanMode...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2304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A"/>
                </a:solidFill>
              </a:rPr>
              <a:t>省 token，多一次 round-trip（~2-3 秒）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7977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87121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45A00"/>
                </a:solidFill>
              </a:rPr>
              <a:t>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0784" y="2871216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不定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064" y="287121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Server 連線時載入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4064" y="28712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2E"/>
                </a:solidFill>
              </a:rPr>
              <a:t>mcp__ide__getDiagnostics, mcp__ide__executeCode, 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41664" y="28712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A"/>
                </a:solidFill>
              </a:rPr>
              <a:t>由外部 server 提供，未連線時不存在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46704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4838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TOOLSEARCH 的角色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22191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唯一預載的「載入其他工具」的 meta 工具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611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用法：ToolSearch("select:WebFetch") 或 ToolSearch("list directory")（關鍵字搜尋）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00016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同一 session 內載入一次即可，不需重複呼叫；跨 session 需重新載入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22E"/>
                </a:solidFill>
              </a:rPr>
              <a:t>04  Tool 特性 — Read / Edit / Write vs Bash 的本質差異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為什麼有 READ/EDIT/WRITE，不直接用 BASH？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4475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面向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6432" y="144475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Read / Write / 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44475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Bash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019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預設權限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19019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Read auto-allow；Write/Edit 分開設定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901952"/>
            <a:ext cx="3657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5A00"/>
                </a:solidFill>
              </a:rPr>
              <a:t>全部需要 prefix / exact / wildcard 規則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40864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4140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匹配邏輯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41401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filePatternTools（路徑型）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414016"/>
            <a:ext cx="3657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5A00"/>
                </a:solidFill>
              </a:rPr>
              <a:t>bashPrefixTools（命令型）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5292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9260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Token 限制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9260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Read：硬上限 25,000 tokens，超過回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926080"/>
            <a:ext cx="3657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5A00"/>
                </a:solidFill>
              </a:rPr>
              <a:t>無強制限制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6499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4381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Diff 顯示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34381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自動計算 structuredPatch + gitDiff 給使用者看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438144"/>
            <a:ext cx="3657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5A00"/>
                </a:solidFill>
              </a:rPr>
              <a:t>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7705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9502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寫入範圍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395020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鎖定工作目錄及子目錄（框架層強制）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950208"/>
            <a:ext cx="3657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5A00"/>
                </a:solidFill>
              </a:rPr>
              <a:t>不限制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8912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4622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特殊格式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44622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圖片（base64）/ .ipynb（解析 cells）/ PDF（分頁）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4462272"/>
            <a:ext cx="3657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5A00"/>
                </a:solidFill>
              </a:rPr>
              <a:t>只有純文字 / bytes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01184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9743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5657A"/>
                </a:solidFill>
              </a:rPr>
              <a:t>注入風險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497433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6FC8"/>
                </a:solidFill>
              </a:rPr>
              <a:t>無，參數由 framework 組裝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4974336"/>
            <a:ext cx="3657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5A00"/>
                </a:solidFill>
              </a:rPr>
              <a:t>命令字串經過 shell 解析，有注入風險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41324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5229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7A50"/>
                </a:solidFill>
              </a:rPr>
              <a:t>EDIT VS WRITE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8704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Edit：精確字串替換（old→new），只傳 diff，token 少，old_string 必須唯一否則報錯，日常修改首選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819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Write：整個檔案覆寫，適合新建檔案或完全重寫，token 消耗多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22E"/>
                </a:solidFill>
              </a:rPr>
              <a:t>04  Tool 特性 — Skill 系統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SKILL 是什麼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22E"/>
                </a:solidFill>
              </a:rPr>
              <a:t>• 放在 .claude/skills/&lt;name&gt;/SKILL.md 的 Markdown 指令檔，告訴 Claude 如何完成特定任務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22E"/>
                </a:solidFill>
              </a:rPr>
              <a:t>• 可附帶腳本，在展開給 LLM 之前先預處理資料（! 前綴命令）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40864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兩種觸發方式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539496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81635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6FC8"/>
                </a:solidFill>
              </a:rPr>
              <a:t>Trigger A  /skill-name  （使用者輸入）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63824"/>
            <a:ext cx="5166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CLI 在框架層讀取 SKILL.md，展開為 isMeta:true 訊息注入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584448"/>
            <a:ext cx="5166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Claude 不需呼叫 Skill tool，直接看到展開後的指令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788920"/>
            <a:ext cx="542239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8163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Trigger B  Skill tool  （Claude 主動呼叫）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6382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Claude 先 ToolSearch 載入 Skill schema，再呼叫 Skill("name", args)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58444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Framework 處理 SKILL.md → tool_result 回傳給 LLM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5993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3308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A1818"/>
                </a:solidFill>
              </a:rPr>
              <a:t>重要設計差異：ALLOWED-TOOLS VS AGENT 工具隔離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988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Skill allowed-tools = 軟性：自動允許列出的工具，但 LLM 仍可呼叫其他工具（需使用者確認）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560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Agent tools = 硬性：API 層隔離，LLM 根本看不到白名單以外的工具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132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! 前綴命令：Framework 執行後再注入，LLM 看不到原始命令，用於大量資料預處理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22E"/>
                </a:solidFill>
              </a:rPr>
              <a:t>04  Tool 特性 — Agent Tool（Subagent）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5 種 SUBAGENT_TYPE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11274552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1732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subagent_type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2112" y="141732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可用工具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9712" y="1417320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57A"/>
                </a:solidFill>
              </a:rPr>
              <a:t>用途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85623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general-purpose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1856231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全部工具（*）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1856231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通用型，複雜多步驟任務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3591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23591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除 Agent, ExitPlanMode, Edit, Write 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235915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快速探索 codebase；3 種深度（quick/medium/very thorough）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8620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28620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同 Explore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286207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架構規劃，回傳 step-by-step 實作計畫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91839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36499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claude-code-guide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364991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Glob, Grep, Read, WebFetch, WebSearch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3364991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回答 Claude Code / SDK / API 問題；支援 resume 繼續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94759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86791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statusline-setup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3867911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Read, Edit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3867911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2E"/>
                </a:solidFill>
              </a:rPr>
              <a:t>設定 Claude Code status 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97679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4074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關鍵特性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54879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獨立 context：每個 subagent 有自己的 context window，不共享主 agent 對話歷史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19379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不同 model：實測 Explore 使用 claude-haiku（快/省錢），主 agent 使用 claude-sonnet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6327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結果包含 totalDurationMs / totalTokens / totalToolUseCount — 完整成本追蹤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71616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agentId 可 resume：下次呼叫帶入 resume 參數可繼續同一個 subagent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22E"/>
                </a:solidFill>
              </a:rPr>
              <a:t>04  Tool 特性 — Hooks（事件驅動擴充）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21 種支援事件（來源：BINARY 2.1.72）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PreToolUse / PostToolUse / PostToolUseFailure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UserPromptSubmit / Notification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SessionStart / SessionEnd /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87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SubagentStart / SubagentStop / TeammateIdle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52927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PreCompact / PermissionRequest /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18687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TaskCompleted / Elicitation / ElicitationResult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84447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• ConfigChange / WorktreeCreate / WorktreeRemove / InstructionsLoaded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59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3308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兩種 HOOK 類型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59"/>
            <a:ext cx="539496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50799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7A50"/>
                </a:solidFill>
              </a:rPr>
              <a:t>command type  （執行 shell 命令）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864607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  • command（必填）：執行的 shell 命令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212079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  • async：背景執行，不阻塞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559551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  • asyncRewake：背景執行，exit code 2 時喚醒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907023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  • once：執行一次後自動移除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254495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  • timeout / statusMessage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480559"/>
            <a:ext cx="542239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5079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prompt type  （LLM 評估）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864607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  • prompt（必填）：提示文字，$ARGUMENTS 取 hook 輸入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21207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  • model：指定 model（預設用小型快速 model）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555955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22E"/>
                </a:solidFill>
              </a:rPr>
              <a:t>  • once / timeout / statusMessage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22E"/>
                </a:solidFill>
              </a:rPr>
              <a:t>05  Permission 系統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兩個層次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112745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6FC8"/>
                </a:solidFill>
              </a:rPr>
              <a:t>Layer 1  工具權限（可設定）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64792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permissions.allow / deny 設定於 settings.json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85416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格式：工具名稱 "Edit"，帶參數 "Bash(git:*)"，domain "WebFetch(domain:docs.anthropic.com)"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112745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7919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A1818"/>
                </a:solidFill>
              </a:rPr>
              <a:t>Layer 2  判斷性確認（不可關閉）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26664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Claude 自行判斷：操作超出請求範圍、發現非預期狀態、請求模糊時會主動暫停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447288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無法透過設定關閉，這是 Claude 本身的風險評估，不是規則系統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1363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867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C8"/>
                </a:solidFill>
              </a:rPr>
              <a:t>BASH 匹配邏輯（來源：BINARY 函數逆向）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3425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prefix  Bash(git:*)  →  匹配 "git"、"git status"、"xargs git"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9145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exact   Bash(git status)  →  只匹配完全相符的字串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4865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wildcard  Bash(git *)  →  glob 模式匹配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0585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• 安全設計：複合命令（&amp;&amp;, ||, ;, |）永遠不匹配 prefix 規則 → 防止 "git status &amp;&amp; rm -rf /" 越獄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23620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291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C8"/>
                </a:solidFill>
              </a:rPr>
              <a:t>PERMISSION MODES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6FC8"/>
                </a:solidFill>
              </a:rPr>
              <a:t>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6565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預設，需確認才執行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65653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6FC8"/>
                </a:solidFill>
              </a:rPr>
              <a:t>acceptEdits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19" y="6565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自動接受檔案編輯，Bash 仍需確認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22E"/>
                </a:solidFill>
              </a:rPr>
              <a:t>06 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D6FC8"/>
                </a:solidFill>
              </a:rPr>
              <a:t>Agentic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261872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批次 tool call 平行執行，不含 tool_use 才停止。Subagent 有獨立 loop，不佔主 agent 的推理次數。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57A50"/>
                </a:solidFill>
              </a:rPr>
              <a:t>工具設計哲學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011680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讀取工具預載且 auto-allow → 零中斷探索。Edit 只傳 diff → token 最少。每個工具都針對最少確認次數、最精準操作最佳化。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70048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45A00"/>
                </a:solidFill>
              </a:rPr>
              <a:t>Pre-loaded vs Deferred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761488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9 個預載（零延遲）vs 16 個延遲載入（省 token，透過 ToolSearch，+2-3 秒）。根據使用頻率權衡 latency 與 token budget。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19856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11296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B21B6"/>
                </a:solidFill>
              </a:rPr>
              <a:t>Skill &amp; Agent 的隔離差異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511296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Skill allowed-tools 是軟性（context 共享，只是自動允許）。Agent tools 是硬性 API 層隔離（LLM 根本看不到其他工具 schema）。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9663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61103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A1818"/>
                </a:solidFill>
              </a:rPr>
              <a:t>Permission 安全設計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261103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複合命令永遠不匹配 prefix 規則（binary 逆向確認），防止越獄。Layer 2 判斷性確認無法用設定關閉。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19472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010912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5657A"/>
                </a:solidFill>
              </a:rPr>
              <a:t>觀察方式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5010912"/>
            <a:ext cx="8732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22E"/>
                </a:solidFill>
              </a:rPr>
              <a:t>所有機制都可透過三種方式交叉驗證：真實 Session JSONL（runtime ground truth）、Claude Code binary 原始碼（函數邏輯）、官網文件（設計意圖）。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69280"/>
            <a:ext cx="11274552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