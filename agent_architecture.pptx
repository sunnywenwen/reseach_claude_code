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47472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74720"/>
            <a:ext cx="12188952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</a:rPr>
              <a:t>Claude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BBD6F8"/>
                </a:solidFill>
              </a:rPr>
              <a:t>Internal Mechanism Deep Dive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493008"/>
            <a:ext cx="12188952" cy="50292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7947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How the agentic loop, tools, skills, agents, hooks, and permissions actually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07288"/>
                </a:solidFill>
              </a:rPr>
              <a:t>Tech Sharing  · 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212080"/>
            <a:ext cx="1271016" cy="274320"/>
          </a:xfrm>
          <a:prstGeom prst="rect">
            <a:avLst/>
          </a:prstGeom>
          <a:solidFill>
            <a:srgbClr val="DB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5230368"/>
            <a:ext cx="1179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6FC8"/>
                </a:solidFill>
              </a:rPr>
              <a:t>JSONL Analysis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5212080"/>
            <a:ext cx="1581912" cy="274320"/>
          </a:xfrm>
          <a:prstGeom prst="rect">
            <a:avLst/>
          </a:prstGeom>
          <a:solidFill>
            <a:srgbClr val="D1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5230368"/>
            <a:ext cx="1490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58A5E"/>
                </a:solidFill>
              </a:rPr>
              <a:t>Source Code Review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5212080"/>
            <a:ext cx="1193292" cy="274320"/>
          </a:xfrm>
          <a:prstGeom prst="rect">
            <a:avLst/>
          </a:prstGeom>
          <a:solidFill>
            <a:srgbClr val="ED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55664" y="5230368"/>
            <a:ext cx="11018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D28D9"/>
                </a:solidFill>
              </a:rPr>
              <a:t>Official Docs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Research Methodology — Cross-Validation 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77824"/>
            <a:ext cx="12188952" cy="36576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607288"/>
                </a:solidFill>
              </a:rPr>
              <a:t>All findings verified through three independent sources before being documented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25880"/>
            <a:ext cx="3749039" cy="5212080"/>
          </a:xfrm>
          <a:prstGeom prst="rect">
            <a:avLst/>
          </a:prstGeom>
          <a:solidFill>
            <a:srgbClr val="F4F6F9"/>
          </a:solidFill>
          <a:ln w="15240">
            <a:solidFill>
              <a:srgbClr val="1D6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3749039" cy="566928"/>
          </a:xfrm>
          <a:prstGeom prst="rect">
            <a:avLst/>
          </a:prstGeom>
          <a:solidFill>
            <a:srgbClr val="DB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D6FC8"/>
                </a:solidFill>
              </a:rPr>
              <a:t>01  Session JSONL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029968"/>
            <a:ext cx="342900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Claude Code logs every conversation as structured JSONL.
Tool calls, token counts, subagent steps, hook events — all
recorded at runtime. This is the ground truth for what
actually happened, not what should have happened.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6309360"/>
            <a:ext cx="3749039" cy="54864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749039" cy="5212080"/>
          </a:xfrm>
          <a:prstGeom prst="rect">
            <a:avLst/>
          </a:prstGeom>
          <a:solidFill>
            <a:srgbClr val="F4F6F9"/>
          </a:solidFill>
          <a:ln w="15240">
            <a:solidFill>
              <a:srgbClr val="058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749039" cy="566928"/>
          </a:xfrm>
          <a:prstGeom prst="rect">
            <a:avLst/>
          </a:prstGeom>
          <a:solidFill>
            <a:srgbClr val="D1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8A5E"/>
                </a:solidFill>
              </a:rPr>
              <a:t>02  Source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029968"/>
            <a:ext cx="342900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Claude Code ships as a single Node.js exe with an embedded
(unencrypted) minified JS bundle. Key logic — permission
matching, tool loading, hook schemas — directly readable
via grep/strings on the binary (~237 MB).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6309360"/>
            <a:ext cx="3749039" cy="54864"/>
          </a:xfrm>
          <a:prstGeom prst="rect">
            <a:avLst/>
          </a:prstGeom>
          <a:solidFill>
            <a:srgbClr val="058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75319" y="1325880"/>
            <a:ext cx="3749039" cy="5212080"/>
          </a:xfrm>
          <a:prstGeom prst="rect">
            <a:avLst/>
          </a:prstGeom>
          <a:solidFill>
            <a:srgbClr val="F4F6F9"/>
          </a:solidFill>
          <a:ln w="1524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75319" y="1325880"/>
            <a:ext cx="3749039" cy="566928"/>
          </a:xfrm>
          <a:prstGeom prst="rect">
            <a:avLst/>
          </a:prstGeom>
          <a:solidFill>
            <a:srgbClr val="ED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1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6D28D9"/>
                </a:solidFill>
              </a:rPr>
              <a:t>03  Official Docs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1" y="2029968"/>
            <a:ext cx="342900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Anthropic's public documentation (docs.anthropic.com)
describes intended behavior and security guarantees.
When docs and runtime evidence diverge, the JSONL
and source code take precedence.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75319" y="6309360"/>
            <a:ext cx="3749039" cy="5486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3796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07288"/>
                </a:solidFill>
              </a:rPr>
              <a:t>Rule: if all three sources agree → high confidence. If JSONL / source contradict docs → runtime evidence wins.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77824"/>
            <a:ext cx="12188952" cy="36576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188720"/>
            <a:ext cx="5577840" cy="1261872"/>
          </a:xfrm>
          <a:prstGeom prst="rect">
            <a:avLst/>
          </a:prstGeom>
          <a:solidFill>
            <a:srgbClr val="F4F6F9"/>
          </a:solidFill>
          <a:ln w="12700">
            <a:solidFill>
              <a:srgbClr val="1D6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502920" cy="1261872"/>
          </a:xfrm>
          <a:prstGeom prst="rect">
            <a:avLst/>
          </a:prstGeom>
          <a:solidFill>
            <a:srgbClr val="DB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" y="1600200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D6FC8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298448"/>
            <a:ext cx="4754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22E"/>
                </a:solidFill>
              </a:rPr>
              <a:t>Agentic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607288"/>
                </a:solidFill>
              </a:rPr>
              <a:t>How Claude executes tool calls in a loop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578608"/>
            <a:ext cx="5577840" cy="1261872"/>
          </a:xfrm>
          <a:prstGeom prst="rect">
            <a:avLst/>
          </a:prstGeom>
          <a:solidFill>
            <a:srgbClr val="F4F6F9"/>
          </a:solidFill>
          <a:ln w="12700">
            <a:solidFill>
              <a:srgbClr val="058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578608"/>
            <a:ext cx="502920" cy="1261872"/>
          </a:xfrm>
          <a:prstGeom prst="rect">
            <a:avLst/>
          </a:prstGeom>
          <a:solidFill>
            <a:srgbClr val="D1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" y="299008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58A5E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688336"/>
            <a:ext cx="4754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22E"/>
                </a:solidFill>
              </a:rPr>
              <a:t>Tool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172968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607288"/>
                </a:solidFill>
              </a:rPr>
              <a:t>Pre-loaded / Deferred / MCP classification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968496"/>
            <a:ext cx="5577840" cy="1261872"/>
          </a:xfrm>
          <a:prstGeom prst="rect">
            <a:avLst/>
          </a:prstGeom>
          <a:solidFill>
            <a:srgbClr val="F4F6F9"/>
          </a:solidFill>
          <a:ln w="12700">
            <a:solidFill>
              <a:srgbClr val="92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3968496"/>
            <a:ext cx="502920" cy="1261872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" y="437997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926000"/>
                </a:solidFill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078224"/>
            <a:ext cx="4754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22E"/>
                </a:solidFill>
              </a:rPr>
              <a:t>ToolSearch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562856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607288"/>
                </a:solidFill>
              </a:rPr>
              <a:t>The meta-tool that loads other tools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358384"/>
            <a:ext cx="5577840" cy="1261872"/>
          </a:xfrm>
          <a:prstGeom prst="rect">
            <a:avLst/>
          </a:prstGeom>
          <a:solidFill>
            <a:srgbClr val="F4F6F9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5358384"/>
            <a:ext cx="502920" cy="1261872"/>
          </a:xfrm>
          <a:prstGeom prst="rect">
            <a:avLst/>
          </a:prstGeom>
          <a:solidFill>
            <a:srgbClr val="ED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" y="5769864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6D28D9"/>
                </a:solidFill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468112"/>
            <a:ext cx="4754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22E"/>
                </a:solidFill>
              </a:rPr>
              <a:t>Skill System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952744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607288"/>
                </a:solidFill>
              </a:rPr>
              <a:t>SKILL.md, trigger paths, execution modes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1188720"/>
            <a:ext cx="5577840" cy="1261872"/>
          </a:xfrm>
          <a:prstGeom prst="rect">
            <a:avLst/>
          </a:prstGeom>
          <a:solidFill>
            <a:srgbClr val="F4F6F9"/>
          </a:solidFill>
          <a:ln w="12700">
            <a:solidFill>
              <a:srgbClr val="C26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1188720"/>
            <a:ext cx="502920" cy="1261872"/>
          </a:xfrm>
          <a:prstGeom prst="rect">
            <a:avLst/>
          </a:prstGeom>
          <a:solidFill>
            <a:srgbClr val="FFE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1600200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26100"/>
                </a:solidFill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1298448"/>
            <a:ext cx="4754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22E"/>
                </a:solidFill>
              </a:rPr>
              <a:t>Agent Tool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17830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607288"/>
                </a:solidFill>
              </a:rPr>
              <a:t>Subagents, IPC, multi-model execution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2578608"/>
            <a:ext cx="5577840" cy="1261872"/>
          </a:xfrm>
          <a:prstGeom prst="rect">
            <a:avLst/>
          </a:prstGeom>
          <a:solidFill>
            <a:srgbClr val="F4F6F9"/>
          </a:solidFill>
          <a:ln w="1270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09360" y="2578608"/>
            <a:ext cx="502920" cy="126187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5936" y="299008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91C1C"/>
                </a:solidFill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688336"/>
            <a:ext cx="4754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22E"/>
                </a:solidFill>
              </a:rPr>
              <a:t>Hooks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3172968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607288"/>
                </a:solidFill>
              </a:rPr>
              <a:t>21 lifecycle events, command &amp; prompt types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3968496"/>
            <a:ext cx="5577840" cy="1261872"/>
          </a:xfrm>
          <a:prstGeom prst="rect">
            <a:avLst/>
          </a:prstGeom>
          <a:solidFill>
            <a:srgbClr val="F4F6F9"/>
          </a:solidFill>
          <a:ln w="12700">
            <a:solidFill>
              <a:srgbClr val="1D6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09360" y="3968496"/>
            <a:ext cx="502920" cy="1261872"/>
          </a:xfrm>
          <a:prstGeom prst="rect">
            <a:avLst/>
          </a:prstGeom>
          <a:solidFill>
            <a:srgbClr val="DB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45936" y="437997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D6FC8"/>
                </a:solidFill>
              </a:rPr>
              <a:t>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40" y="4078224"/>
            <a:ext cx="4754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22E"/>
                </a:solidFill>
              </a:rPr>
              <a:t>Permission System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4562856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607288"/>
                </a:solidFill>
              </a:rPr>
              <a:t>Two-layer design, Bash matching logic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5358384"/>
            <a:ext cx="5577840" cy="1261872"/>
          </a:xfrm>
          <a:prstGeom prst="rect">
            <a:avLst/>
          </a:prstGeom>
          <a:solidFill>
            <a:srgbClr val="F4F6F9"/>
          </a:solidFill>
          <a:ln w="12700">
            <a:solidFill>
              <a:srgbClr val="058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09360" y="5358384"/>
            <a:ext cx="502920" cy="1261872"/>
          </a:xfrm>
          <a:prstGeom prst="rect">
            <a:avLst/>
          </a:prstGeom>
          <a:solidFill>
            <a:srgbClr val="D1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45936" y="5769864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58A5E"/>
                </a:solidFill>
              </a:rPr>
              <a:t>08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5468112"/>
            <a:ext cx="4754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22E"/>
                </a:solidFill>
              </a:rPr>
              <a:t>Extended Thinking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5952744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607288"/>
                </a:solidFill>
              </a:rPr>
              <a:t>Plaintext vs encrypted thinking states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411480"/>
            <a:ext cx="11365992" cy="6035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2560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 i="0">
                <a:solidFill>
                  <a:srgbClr val="DBEAFB"/>
                </a:solidFill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A222E"/>
                </a:solidFill>
              </a:rPr>
              <a:t>Agentic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017520"/>
            <a:ext cx="3200400" cy="54864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607288"/>
                </a:solidFill>
              </a:rPr>
              <a:t>The fundamental execution architecture of Claude Code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Agentic Loop — How Tool Execution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77824"/>
            <a:ext cx="12188952" cy="36576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188720"/>
            <a:ext cx="3200400" cy="658368"/>
          </a:xfrm>
          <a:prstGeom prst="rect">
            <a:avLst/>
          </a:prstGeom>
          <a:solidFill>
            <a:srgbClr val="EAEEF4"/>
          </a:solidFill>
          <a:ln w="15240">
            <a:solidFill>
              <a:srgbClr val="607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88720"/>
            <a:ext cx="3200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607288"/>
                </a:solidFill>
              </a:rPr>
              <a:t>User Input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176272"/>
            <a:ext cx="3200400" cy="658368"/>
          </a:xfrm>
          <a:prstGeom prst="rect">
            <a:avLst/>
          </a:prstGeom>
          <a:solidFill>
            <a:srgbClr val="DBEAFB"/>
          </a:solidFill>
          <a:ln w="15240">
            <a:solidFill>
              <a:srgbClr val="1D6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2176272"/>
            <a:ext cx="3200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1D6FC8"/>
                </a:solidFill>
              </a:rPr>
              <a:t>LLM Inference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163824"/>
            <a:ext cx="3200400" cy="658368"/>
          </a:xfrm>
          <a:prstGeom prst="rect">
            <a:avLst/>
          </a:prstGeom>
          <a:solidFill>
            <a:srgbClr val="D1FAEA"/>
          </a:solidFill>
          <a:ln w="15240">
            <a:solidFill>
              <a:srgbClr val="058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3163824"/>
            <a:ext cx="3200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058A5E"/>
                </a:solidFill>
              </a:rPr>
              <a:t>Tool Execution Layer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4151376"/>
            <a:ext cx="3200400" cy="658368"/>
          </a:xfrm>
          <a:prstGeom prst="rect">
            <a:avLst/>
          </a:prstGeom>
          <a:solidFill>
            <a:srgbClr val="D1FAEA"/>
          </a:solidFill>
          <a:ln w="15240">
            <a:solidFill>
              <a:srgbClr val="058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4151376"/>
            <a:ext cx="3200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058A5E"/>
                </a:solidFill>
              </a:rPr>
              <a:t>Collect tool_results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5138928"/>
            <a:ext cx="3200400" cy="658368"/>
          </a:xfrm>
          <a:prstGeom prst="rect">
            <a:avLst/>
          </a:prstGeom>
          <a:solidFill>
            <a:srgbClr val="EAEEF4"/>
          </a:solidFill>
          <a:ln w="15240">
            <a:solidFill>
              <a:srgbClr val="607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138928"/>
            <a:ext cx="3200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607288"/>
                </a:solidFill>
              </a:rPr>
              <a:t>Return to User  ✓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11680" y="1847088"/>
            <a:ext cx="0" cy="329184"/>
          </a:xfrm>
          <a:prstGeom prst="line">
            <a:avLst/>
          </a:prstGeom>
          <a:ln w="19050">
            <a:solidFill>
              <a:srgbClr val="6072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011680" y="2834640"/>
            <a:ext cx="0" cy="329184"/>
          </a:xfrm>
          <a:prstGeom prst="line">
            <a:avLst/>
          </a:prstGeom>
          <a:ln w="19050">
            <a:solidFill>
              <a:srgbClr val="6072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011680" y="3822191"/>
            <a:ext cx="0" cy="329185"/>
          </a:xfrm>
          <a:prstGeom prst="line">
            <a:avLst/>
          </a:prstGeom>
          <a:ln w="19050">
            <a:solidFill>
              <a:srgbClr val="6072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337560" y="4809744"/>
            <a:ext cx="0" cy="329184"/>
          </a:xfrm>
          <a:prstGeom prst="line">
            <a:avLst/>
          </a:prstGeom>
          <a:ln w="19050">
            <a:solidFill>
              <a:srgbClr val="6072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611880" y="2834640"/>
            <a:ext cx="0" cy="1316736"/>
          </a:xfrm>
          <a:prstGeom prst="line">
            <a:avLst/>
          </a:prstGeom>
          <a:ln w="19050">
            <a:solidFill>
              <a:srgbClr val="1D6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657600" y="3383280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D6FC8"/>
                </a:solidFill>
              </a:rPr>
              <a:t>loop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98348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07288"/>
                </a:solidFill>
              </a:rPr>
              <a:t>no tool_use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0" y="1115568"/>
            <a:ext cx="8138160" cy="1298448"/>
          </a:xfrm>
          <a:prstGeom prst="rect">
            <a:avLst/>
          </a:prstGeom>
          <a:solidFill>
            <a:srgbClr val="DBEAFB"/>
          </a:solidFill>
          <a:ln w="15240">
            <a:solidFill>
              <a:srgbClr val="1D6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41648" y="1207008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Batch Parallel Tool Calls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41648" y="1636776"/>
            <a:ext cx="7772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One LLM inference can emit multiple tool_use blocks simultaneously.
All execute in parallel; all results return before next inference.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80" y="2505456"/>
            <a:ext cx="8138160" cy="1298448"/>
          </a:xfrm>
          <a:prstGeom prst="rect">
            <a:avLst/>
          </a:prstGeom>
          <a:solidFill>
            <a:srgbClr val="D1FAEA"/>
          </a:solidFill>
          <a:ln w="15240">
            <a:solidFill>
              <a:srgbClr val="058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41648" y="2596896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58A5E"/>
                </a:solidFill>
              </a:rPr>
              <a:t>Loop Termination Condition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41648" y="3026664"/>
            <a:ext cx="7772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Loop ends when LLM response contains no tool_use block.
No special stop token — the model simply stops calling tools.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0" y="3895344"/>
            <a:ext cx="8138160" cy="1298448"/>
          </a:xfrm>
          <a:prstGeom prst="rect">
            <a:avLst/>
          </a:prstGeom>
          <a:solidFill>
            <a:srgbClr val="FEF3C7"/>
          </a:solidFill>
          <a:ln w="15240">
            <a:solidFill>
              <a:srgbClr val="92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41648" y="3986783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26000"/>
                </a:solidFill>
              </a:rPr>
              <a:t>Background Bash is Non-blocking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41648" y="4416552"/>
            <a:ext cx="7772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run_in_background: inference continues immediately.
Result delivered later via &lt;task-notification&gt;.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0" y="5285231"/>
            <a:ext cx="8138160" cy="1298448"/>
          </a:xfrm>
          <a:prstGeom prst="rect">
            <a:avLst/>
          </a:prstGeom>
          <a:solidFill>
            <a:srgbClr val="EDE4FF"/>
          </a:solidFill>
          <a:ln w="1524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41648" y="5376671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</a:rPr>
              <a:t>Subagents Have Independent Loops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41648" y="5806440"/>
            <a:ext cx="7772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They don't consume parent's inference budget.
Progress reported via agent_progress records in parent JSONL.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411480"/>
            <a:ext cx="11365992" cy="6035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2560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 i="0">
                <a:solidFill>
                  <a:srgbClr val="DBEAFB"/>
                </a:solidFill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A222E"/>
                </a:solidFill>
              </a:rPr>
              <a:t>Tool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017520"/>
            <a:ext cx="3200400" cy="54864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607288"/>
                </a:solidFill>
              </a:rPr>
              <a:t>Pre-loaded · Deferred · MCP — and why the split matters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Tool Classification — Three Loading Strategies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77824"/>
            <a:ext cx="12188952" cy="36576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24128"/>
            <a:ext cx="3794760" cy="555955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24128"/>
            <a:ext cx="3794760" cy="530352"/>
          </a:xfrm>
          <a:prstGeom prst="rect">
            <a:avLst/>
          </a:prstGeom>
          <a:solidFill>
            <a:srgbClr val="DB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" y="1060704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6FC8"/>
                </a:solidFill>
              </a:rPr>
              <a:t>Pre-loaded  (9 tools)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" y="1609344"/>
            <a:ext cx="35478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07288"/>
                </a:solidFill>
              </a:rPr>
              <a:t>Schema in context at session start.
No extra round-trip needed.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" y="2331720"/>
            <a:ext cx="3429000" cy="329184"/>
          </a:xfrm>
          <a:prstGeom prst="rect">
            <a:avLst/>
          </a:prstGeom>
          <a:solidFill>
            <a:srgbClr val="DBEAFB"/>
          </a:solidFill>
          <a:ln w="10160">
            <a:solidFill>
              <a:srgbClr val="1D6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7" y="236829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D6FC8"/>
                </a:solidFill>
              </a:rPr>
              <a:t>Read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" y="2715768"/>
            <a:ext cx="3429000" cy="329184"/>
          </a:xfrm>
          <a:prstGeom prst="rect">
            <a:avLst/>
          </a:prstGeom>
          <a:solidFill>
            <a:srgbClr val="DBEAFB"/>
          </a:solidFill>
          <a:ln w="10160">
            <a:solidFill>
              <a:srgbClr val="1D6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7" y="27523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D6FC8"/>
                </a:solidFill>
              </a:rPr>
              <a:t>Write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" y="3099815"/>
            <a:ext cx="3429000" cy="329184"/>
          </a:xfrm>
          <a:prstGeom prst="rect">
            <a:avLst/>
          </a:prstGeom>
          <a:solidFill>
            <a:srgbClr val="DBEAFB"/>
          </a:solidFill>
          <a:ln w="10160">
            <a:solidFill>
              <a:srgbClr val="1D6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7" y="313639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D6FC8"/>
                </a:solidFill>
              </a:rPr>
              <a:t>Edit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" y="3483863"/>
            <a:ext cx="3429000" cy="329184"/>
          </a:xfrm>
          <a:prstGeom prst="rect">
            <a:avLst/>
          </a:prstGeom>
          <a:solidFill>
            <a:srgbClr val="DBEAFB"/>
          </a:solidFill>
          <a:ln w="10160">
            <a:solidFill>
              <a:srgbClr val="1D6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7" y="35204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D6FC8"/>
                </a:solidFill>
              </a:rPr>
              <a:t>Glob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6" y="3867911"/>
            <a:ext cx="3429000" cy="329184"/>
          </a:xfrm>
          <a:prstGeom prst="rect">
            <a:avLst/>
          </a:prstGeom>
          <a:solidFill>
            <a:srgbClr val="DBEAFB"/>
          </a:solidFill>
          <a:ln w="10160">
            <a:solidFill>
              <a:srgbClr val="1D6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7" y="390448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D6FC8"/>
                </a:solidFill>
              </a:rPr>
              <a:t>Grep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" y="4251959"/>
            <a:ext cx="3429000" cy="329184"/>
          </a:xfrm>
          <a:prstGeom prst="rect">
            <a:avLst/>
          </a:prstGeom>
          <a:solidFill>
            <a:srgbClr val="DBEAFB"/>
          </a:solidFill>
          <a:ln w="10160">
            <a:solidFill>
              <a:srgbClr val="1D6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7" y="42885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D6FC8"/>
                </a:solidFill>
              </a:rPr>
              <a:t>Bash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" y="4636007"/>
            <a:ext cx="3429000" cy="329184"/>
          </a:xfrm>
          <a:prstGeom prst="rect">
            <a:avLst/>
          </a:prstGeom>
          <a:solidFill>
            <a:srgbClr val="DBEAFB"/>
          </a:solidFill>
          <a:ln w="10160">
            <a:solidFill>
              <a:srgbClr val="1D6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7" y="467258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D6FC8"/>
                </a:solidFill>
              </a:rPr>
              <a:t>Agent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" y="5020055"/>
            <a:ext cx="3429000" cy="329184"/>
          </a:xfrm>
          <a:prstGeom prst="rect">
            <a:avLst/>
          </a:prstGeom>
          <a:solidFill>
            <a:srgbClr val="DBEAFB"/>
          </a:solidFill>
          <a:ln w="10160">
            <a:solidFill>
              <a:srgbClr val="1D6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7" y="5056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D6FC8"/>
                </a:solidFill>
              </a:rPr>
              <a:t>Skill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" y="5404103"/>
            <a:ext cx="3429000" cy="329184"/>
          </a:xfrm>
          <a:prstGeom prst="rect">
            <a:avLst/>
          </a:prstGeom>
          <a:solidFill>
            <a:srgbClr val="DBEAFB"/>
          </a:solidFill>
          <a:ln w="10160">
            <a:solidFill>
              <a:srgbClr val="1D6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7" y="544067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D6FC8"/>
                </a:solidFill>
              </a:rPr>
              <a:t>ToolSearch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" y="6126480"/>
            <a:ext cx="3547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6FC8"/>
                </a:solidFill>
              </a:rPr>
              <a:t>→ Zero latency to call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7679" y="1024128"/>
            <a:ext cx="3794760" cy="555955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97679" y="1024128"/>
            <a:ext cx="3794760" cy="530352"/>
          </a:xfrm>
          <a:prstGeom prst="rect">
            <a:avLst/>
          </a:prstGeom>
          <a:solidFill>
            <a:srgbClr val="D1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25695" y="1060704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8A5E"/>
                </a:solidFill>
              </a:rPr>
              <a:t>Deferred  (16 tools)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25695" y="1609344"/>
            <a:ext cx="35478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07288"/>
                </a:solidFill>
              </a:rPr>
              <a:t>Schema NOT in context. Must ToolSearch first.
Tagged in system prompt as &lt;available-deferred-tools&gt;.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25695" y="2331720"/>
            <a:ext cx="3429000" cy="329184"/>
          </a:xfrm>
          <a:prstGeom prst="rect">
            <a:avLst/>
          </a:prstGeom>
          <a:solidFill>
            <a:srgbClr val="D1FAEA"/>
          </a:solidFill>
          <a:ln w="10160">
            <a:solidFill>
              <a:srgbClr val="058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98847" y="236829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58A5E"/>
                </a:solidFill>
              </a:rPr>
              <a:t>WebFetch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695" y="2715768"/>
            <a:ext cx="3429000" cy="329184"/>
          </a:xfrm>
          <a:prstGeom prst="rect">
            <a:avLst/>
          </a:prstGeom>
          <a:solidFill>
            <a:srgbClr val="D1FAEA"/>
          </a:solidFill>
          <a:ln w="10160">
            <a:solidFill>
              <a:srgbClr val="058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98847" y="27523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58A5E"/>
                </a:solidFill>
              </a:rPr>
              <a:t>WebSearch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25695" y="3099815"/>
            <a:ext cx="3429000" cy="329184"/>
          </a:xfrm>
          <a:prstGeom prst="rect">
            <a:avLst/>
          </a:prstGeom>
          <a:solidFill>
            <a:srgbClr val="D1FAEA"/>
          </a:solidFill>
          <a:ln w="10160">
            <a:solidFill>
              <a:srgbClr val="058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98847" y="313639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58A5E"/>
                </a:solidFill>
              </a:rPr>
              <a:t>AskUserQuestion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25695" y="3483863"/>
            <a:ext cx="3429000" cy="329184"/>
          </a:xfrm>
          <a:prstGeom prst="rect">
            <a:avLst/>
          </a:prstGeom>
          <a:solidFill>
            <a:srgbClr val="D1FAEA"/>
          </a:solidFill>
          <a:ln w="10160">
            <a:solidFill>
              <a:srgbClr val="058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98847" y="35204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58A5E"/>
                </a:solidFill>
              </a:rPr>
              <a:t>NotebookEdit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25695" y="3867911"/>
            <a:ext cx="3429000" cy="329184"/>
          </a:xfrm>
          <a:prstGeom prst="rect">
            <a:avLst/>
          </a:prstGeom>
          <a:solidFill>
            <a:srgbClr val="D1FAEA"/>
          </a:solidFill>
          <a:ln w="10160">
            <a:solidFill>
              <a:srgbClr val="058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98847" y="390448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58A5E"/>
                </a:solidFill>
              </a:rPr>
              <a:t>EnterPlanMode / ExitPlanMode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25695" y="4251959"/>
            <a:ext cx="3429000" cy="329184"/>
          </a:xfrm>
          <a:prstGeom prst="rect">
            <a:avLst/>
          </a:prstGeom>
          <a:solidFill>
            <a:srgbClr val="D1FAEA"/>
          </a:solidFill>
          <a:ln w="10160">
            <a:solidFill>
              <a:srgbClr val="058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98847" y="42885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58A5E"/>
                </a:solidFill>
              </a:rPr>
              <a:t>EnterWorktree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695" y="4636007"/>
            <a:ext cx="3429000" cy="329184"/>
          </a:xfrm>
          <a:prstGeom prst="rect">
            <a:avLst/>
          </a:prstGeom>
          <a:solidFill>
            <a:srgbClr val="D1FAEA"/>
          </a:solidFill>
          <a:ln w="10160">
            <a:solidFill>
              <a:srgbClr val="058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98847" y="467258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58A5E"/>
                </a:solidFill>
              </a:rPr>
              <a:t>TaskCreate / Update / Stop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25695" y="5020055"/>
            <a:ext cx="3429000" cy="329184"/>
          </a:xfrm>
          <a:prstGeom prst="rect">
            <a:avLst/>
          </a:prstGeom>
          <a:solidFill>
            <a:srgbClr val="D1FAEA"/>
          </a:solidFill>
          <a:ln w="10160">
            <a:solidFill>
              <a:srgbClr val="058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98847" y="5056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58A5E"/>
                </a:solidFill>
              </a:rPr>
              <a:t>CronCreate / CronDelete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25695" y="5404103"/>
            <a:ext cx="3429000" cy="329184"/>
          </a:xfrm>
          <a:prstGeom prst="rect">
            <a:avLst/>
          </a:prstGeom>
          <a:solidFill>
            <a:srgbClr val="D1FAEA"/>
          </a:solidFill>
          <a:ln w="10160">
            <a:solidFill>
              <a:srgbClr val="058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98847" y="544067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58A5E"/>
                </a:solidFill>
              </a:rPr>
              <a:t>...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25695" y="6126480"/>
            <a:ext cx="3547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58A5E"/>
                </a:solidFill>
              </a:rPr>
              <a:t>→ +1 round-trip via ToolSearch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75319" y="1024128"/>
            <a:ext cx="3794760" cy="555955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275319" y="1024128"/>
            <a:ext cx="3794760" cy="530352"/>
          </a:xfrm>
          <a:prstGeom prst="rect">
            <a:avLst/>
          </a:prstGeom>
          <a:solidFill>
            <a:srgbClr val="ED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03336" y="1060704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D28D9"/>
                </a:solidFill>
              </a:rPr>
              <a:t>MCP  (variable)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03336" y="1609344"/>
            <a:ext cx="35478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07288"/>
                </a:solidFill>
              </a:rPr>
              <a:t>Provided by external MCP servers.
Available only when server is connected.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403336" y="2331720"/>
            <a:ext cx="3429000" cy="329184"/>
          </a:xfrm>
          <a:prstGeom prst="rect">
            <a:avLst/>
          </a:prstGeom>
          <a:solidFill>
            <a:srgbClr val="EDE4FF"/>
          </a:solidFill>
          <a:ln w="1016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76488" y="236829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6D28D9"/>
                </a:solidFill>
              </a:rPr>
              <a:t>mcp__ide__getDiagnostics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403336" y="2715768"/>
            <a:ext cx="3429000" cy="329184"/>
          </a:xfrm>
          <a:prstGeom prst="rect">
            <a:avLst/>
          </a:prstGeom>
          <a:solidFill>
            <a:srgbClr val="EDE4FF"/>
          </a:solidFill>
          <a:ln w="1016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76488" y="27523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6D28D9"/>
                </a:solidFill>
              </a:rPr>
              <a:t>mcp__ide__executeCode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403336" y="3099815"/>
            <a:ext cx="3429000" cy="329184"/>
          </a:xfrm>
          <a:prstGeom prst="rect">
            <a:avLst/>
          </a:prstGeom>
          <a:solidFill>
            <a:srgbClr val="EDE4FF"/>
          </a:solidFill>
          <a:ln w="1016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476488" y="313639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6D28D9"/>
                </a:solidFill>
              </a:rPr>
              <a:t>(any user-configured MCP tool)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03336" y="6126480"/>
            <a:ext cx="3547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D28D9"/>
                </a:solidFill>
              </a:rPr>
              <a:t>→ Depends on server connection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Design: Why Read/Write/Edit Instead of Just Bash?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77824"/>
            <a:ext cx="12188952" cy="36576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607288"/>
                </a:solidFill>
              </a:rPr>
              <a:t>Dedicated tools are not syntax sugar — they have fundamentally different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07008"/>
            <a:ext cx="11475720" cy="457200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243584"/>
            <a:ext cx="2331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22E"/>
                </a:solidFill>
              </a:rPr>
              <a:t>Dimension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81528" y="1243584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Read / Write / Edit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4927" y="1243584"/>
            <a:ext cx="4343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26100"/>
                </a:solidFill>
              </a:rPr>
              <a:t>Bash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00784"/>
            <a:ext cx="114757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700784"/>
            <a:ext cx="11475720" cy="18288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792224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607288"/>
                </a:solidFill>
              </a:rPr>
              <a:t>Default Permission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1528" y="1792224"/>
            <a:ext cx="4069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D6FC8"/>
                </a:solidFill>
              </a:rPr>
              <a:t>Read: auto-allow  |  Write/Edit: separate setting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4927" y="1792224"/>
            <a:ext cx="4343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26100"/>
                </a:solidFill>
              </a:rPr>
              <a:t>Needs prefix / exact / wildcard rule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368296"/>
            <a:ext cx="11475720" cy="62179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368296"/>
            <a:ext cx="11475720" cy="18288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2459736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607288"/>
                </a:solidFill>
              </a:rPr>
              <a:t>Matching Logic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81528" y="2459736"/>
            <a:ext cx="4069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D6FC8"/>
                </a:solidFill>
              </a:rPr>
              <a:t>filePatternTools  (path-based)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7" y="2459736"/>
            <a:ext cx="4343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26100"/>
                </a:solidFill>
              </a:rPr>
              <a:t>bashPrefixTools  (command-based)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035808"/>
            <a:ext cx="114757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3035808"/>
            <a:ext cx="11475720" cy="18288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3127248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607288"/>
                </a:solidFill>
              </a:rPr>
              <a:t>Token Limit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81528" y="3127248"/>
            <a:ext cx="4069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D6FC8"/>
                </a:solidFill>
              </a:rPr>
              <a:t>Read: hard 25,000-token cap → returns error string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24927" y="3127248"/>
            <a:ext cx="4343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26100"/>
                </a:solidFill>
              </a:rPr>
              <a:t>No enforced limit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703320"/>
            <a:ext cx="11475720" cy="62179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703320"/>
            <a:ext cx="11475720" cy="18288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3794759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607288"/>
                </a:solidFill>
              </a:rPr>
              <a:t>Diff Display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81528" y="3794759"/>
            <a:ext cx="4069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D6FC8"/>
                </a:solidFill>
              </a:rPr>
              <a:t>Auto structuredPatch + gitDiff shown to user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4927" y="3794759"/>
            <a:ext cx="4343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26100"/>
                </a:solidFill>
              </a:rPr>
              <a:t>None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370832"/>
            <a:ext cx="114757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4370832"/>
            <a:ext cx="11475720" cy="18288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5488" y="4462272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607288"/>
                </a:solidFill>
              </a:rPr>
              <a:t>Write Scope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4462272"/>
            <a:ext cx="4069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D6FC8"/>
                </a:solidFill>
              </a:rPr>
              <a:t>Locked to working directory and subdirectories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24927" y="4462272"/>
            <a:ext cx="4343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26100"/>
                </a:solidFill>
              </a:rPr>
              <a:t>Unrestricted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038344"/>
            <a:ext cx="11475720" cy="62179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5038344"/>
            <a:ext cx="11475720" cy="18288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5488" y="5129783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607288"/>
                </a:solidFill>
              </a:rPr>
              <a:t>Special Formats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81528" y="5129783"/>
            <a:ext cx="4069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D6FC8"/>
                </a:solidFill>
              </a:rPr>
              <a:t>Images (base64 · vision), .ipynb (parsed), PDF (paged)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24927" y="5129783"/>
            <a:ext cx="4343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26100"/>
                </a:solidFill>
              </a:rPr>
              <a:t>Raw bytes / text only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705856"/>
            <a:ext cx="114757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5705856"/>
            <a:ext cx="11475720" cy="18288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5488" y="5797296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607288"/>
                </a:solidFill>
              </a:rPr>
              <a:t>Shell Injection Risk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81528" y="5797296"/>
            <a:ext cx="4069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D6FC8"/>
                </a:solidFill>
              </a:rPr>
              <a:t>None — parameters assembled by framework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24927" y="5797296"/>
            <a:ext cx="4343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26100"/>
                </a:solidFill>
              </a:rPr>
              <a:t>Command string parsed by shell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411480"/>
            <a:ext cx="11365992" cy="6035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2560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 i="0">
                <a:solidFill>
                  <a:srgbClr val="DBEAFB"/>
                </a:solidFill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A222E"/>
                </a:solidFill>
              </a:rPr>
              <a:t>ToolSearch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017520"/>
            <a:ext cx="3200400" cy="54864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607288"/>
                </a:solidFill>
              </a:rPr>
              <a:t>The meta-tool — its sole job is loading other tool schemas into context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ToolSearch — Dynamic Tool Loading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77824"/>
            <a:ext cx="12188952" cy="36576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07008"/>
            <a:ext cx="3474720" cy="658368"/>
          </a:xfrm>
          <a:prstGeom prst="rect">
            <a:avLst/>
          </a:prstGeom>
          <a:solidFill>
            <a:srgbClr val="EAEEF4"/>
          </a:solidFill>
          <a:ln w="15240">
            <a:solidFill>
              <a:srgbClr val="607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07008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607288"/>
                </a:solidFill>
              </a:rPr>
              <a:t>Claude needs a tool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176272"/>
            <a:ext cx="3474720" cy="658368"/>
          </a:xfrm>
          <a:prstGeom prst="rect">
            <a:avLst/>
          </a:prstGeom>
          <a:solidFill>
            <a:srgbClr val="FEF3C7"/>
          </a:solidFill>
          <a:ln w="15240">
            <a:solidFill>
              <a:srgbClr val="92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2176272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926000"/>
                </a:solidFill>
              </a:rPr>
              <a:t>ToolSearch("select:WebFetch")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145536"/>
            <a:ext cx="3474720" cy="658368"/>
          </a:xfrm>
          <a:prstGeom prst="rect">
            <a:avLst/>
          </a:prstGeom>
          <a:solidFill>
            <a:srgbClr val="D1FAEA"/>
          </a:solidFill>
          <a:ln w="15240">
            <a:solidFill>
              <a:srgbClr val="058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3145536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58A5E"/>
                </a:solidFill>
              </a:rPr>
              <a:t>WebFetch schema loaded into context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114800"/>
            <a:ext cx="3474720" cy="658368"/>
          </a:xfrm>
          <a:prstGeom prst="rect">
            <a:avLst/>
          </a:prstGeom>
          <a:solidFill>
            <a:srgbClr val="DBEAFB"/>
          </a:solidFill>
          <a:ln w="15240">
            <a:solidFill>
              <a:srgbClr val="1D6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4114800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D6FC8"/>
                </a:solidFill>
              </a:rPr>
              <a:t>WebFetch(...) called directly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103120" y="1865376"/>
            <a:ext cx="0" cy="310896"/>
          </a:xfrm>
          <a:prstGeom prst="line">
            <a:avLst/>
          </a:prstGeom>
          <a:ln w="19050">
            <a:solidFill>
              <a:srgbClr val="6072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103120" y="2834640"/>
            <a:ext cx="0" cy="310896"/>
          </a:xfrm>
          <a:prstGeom prst="line">
            <a:avLst/>
          </a:prstGeom>
          <a:ln w="19050">
            <a:solidFill>
              <a:srgbClr val="6072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103120" y="3803904"/>
            <a:ext cx="0" cy="310896"/>
          </a:xfrm>
          <a:prstGeom prst="line">
            <a:avLst/>
          </a:prstGeom>
          <a:ln w="19050">
            <a:solidFill>
              <a:srgbClr val="6072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4206240" y="1170432"/>
            <a:ext cx="7772400" cy="24231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6240" y="1170432"/>
            <a:ext cx="7772400" cy="475488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1207008"/>
            <a:ext cx="4572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26000"/>
                </a:solidFill>
              </a:rPr>
              <a:t>Query Modes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171907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22E"/>
                </a:solidFill>
              </a:rPr>
              <a:t>▸  Direct select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2057400"/>
            <a:ext cx="7406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D6FC8"/>
                </a:solidFill>
              </a:rPr>
              <a:t>ToolSearch("select:WebFetch")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2340864"/>
            <a:ext cx="7406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7288"/>
                </a:solidFill>
              </a:rPr>
              <a:t>→ Know the tool name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2679191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22E"/>
                </a:solidFill>
              </a:rPr>
              <a:t>▸  Multi select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017520"/>
            <a:ext cx="7406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D6FC8"/>
                </a:solidFill>
              </a:rPr>
              <a:t>ToolSearch("select:Read,Edit,Grep")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3300984"/>
            <a:ext cx="7406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7288"/>
                </a:solidFill>
              </a:rPr>
              <a:t>→ Load several at once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3639311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22E"/>
                </a:solidFill>
              </a:rPr>
              <a:t>▸  Keyword 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977639"/>
            <a:ext cx="7406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D6FC8"/>
                </a:solidFill>
              </a:rPr>
              <a:t>ToolSearch("list directory")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261103"/>
            <a:ext cx="7406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7288"/>
                </a:solidFill>
              </a:rPr>
              <a:t>→ Don't know the exact name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06240" y="3749039"/>
            <a:ext cx="7772400" cy="1508760"/>
          </a:xfrm>
          <a:prstGeom prst="rect">
            <a:avLst/>
          </a:prstGeom>
          <a:solidFill>
            <a:srgbClr val="FFEDCC"/>
          </a:solidFill>
          <a:ln w="15240">
            <a:solidFill>
              <a:srgbClr val="C26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0" y="382219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26100"/>
                </a:solidFill>
              </a:rPr>
              <a:t>Performance Cost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233672"/>
            <a:ext cx="740664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Each ToolSearch = 1 extra tool call + 1 LLM inference (~2–3 sec extra latency).
Pre-loaded tools skip this entirely.
Loaded schema persists for the session — not across sessions.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5029200"/>
            <a:ext cx="11612880" cy="1234440"/>
          </a:xfrm>
          <a:prstGeom prst="rect">
            <a:avLst/>
          </a:prstGeom>
          <a:solidFill>
            <a:srgbClr val="DBEAFB"/>
          </a:solidFill>
          <a:ln w="15240">
            <a:solidFill>
              <a:srgbClr val="1D6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51023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Design insight: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10235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ToolSearch is the only pre-loaded tool whose job is loading other tools. Lazy-loading keeps the default context smaller (tool schemas are long) — you pay the latency only when a deferred tool is actually needed.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411480"/>
            <a:ext cx="11365992" cy="6035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2560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 i="0">
                <a:solidFill>
                  <a:srgbClr val="DBEAFB"/>
                </a:solidFill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A222E"/>
                </a:solidFill>
              </a:rPr>
              <a:t>Skill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017520"/>
            <a:ext cx="3200400" cy="54864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607288"/>
                </a:solidFill>
              </a:rPr>
              <a:t>SKILL.md — reusable task templates with dynamic injection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Skill System — Two Trigger Paths, One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77824"/>
            <a:ext cx="12188952" cy="36576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4572000" cy="53949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4572000" cy="457200"/>
          </a:xfrm>
          <a:prstGeom prst="rect">
            <a:avLst/>
          </a:prstGeom>
          <a:solidFill>
            <a:srgbClr val="ED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344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</a:rPr>
              <a:t>SKILL.md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719072"/>
            <a:ext cx="4297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58A5E"/>
                </a:solidFill>
              </a:rPr>
              <a:t>---
name: session-analyze
description: When to trigger (for LLM)
argument-hint: &lt;path&gt;
allowed-tools: Bash(python3 *), Read
disable-model-invocation: true
context: fork
agent: Explore
model: claude-haiku-4-5
---
# Instructions for Claude...
!`python3 "${CLAUDE_SKILL_DIR}/parse.py" "$ARGUMENTS"`</a:t>
            </a:r>
          </a:p>
        </p:txBody>
      </p:sp>
      <p:sp>
        <p:nvSpPr>
          <p:cNvPr id="9" name="Rectangle 8"/>
          <p:cNvSpPr/>
          <p:nvPr/>
        </p:nvSpPr>
        <p:spPr>
          <a:xfrm>
            <a:off x="5166360" y="1188720"/>
            <a:ext cx="6812280" cy="23774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66360" y="1188720"/>
            <a:ext cx="6812280" cy="457200"/>
          </a:xfrm>
          <a:prstGeom prst="rect">
            <a:avLst/>
          </a:prstGeom>
          <a:solidFill>
            <a:srgbClr val="DB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23444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Trigger A — User types /skill-name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719072"/>
            <a:ext cx="64922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CLI reads SKILL.md at framework layer.
Injects as isMeta:true user message — Claude sees
expanded instructions without calling the Skill tool.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60" y="3703320"/>
            <a:ext cx="6812280" cy="23774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66360" y="3703320"/>
            <a:ext cx="6812280" cy="457200"/>
          </a:xfrm>
          <a:prstGeom prst="rect">
            <a:avLst/>
          </a:prstGeom>
          <a:solidFill>
            <a:srgbClr val="ED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40" y="3749039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D28D9"/>
                </a:solidFill>
              </a:rPr>
              <a:t>Trigger B — Claude calls Skill tool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4233672"/>
            <a:ext cx="64922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Claude first ToolSearch-loads the Skill schema.
Then calls Skill("name", args).
Framework processes SKILL.md → tool_result returned.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66360" y="6236208"/>
            <a:ext cx="6812280" cy="457200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7800" y="6272784"/>
            <a:ext cx="6629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7288"/>
                </a:solidFill>
              </a:rPr>
              <a:t>Shared pipeline: variable substitution → ! prefix exec → allowed-tools merge → frontmatter routing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Skill Frontmatter — What Each Field Actually Does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77824"/>
            <a:ext cx="12188952" cy="36576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607288"/>
                </a:solidFill>
              </a:rPr>
              <a:t>Source: binary analysis of alwaysAllowRules, disableModelInvocation, context fork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07008"/>
            <a:ext cx="11521440" cy="914400"/>
          </a:xfrm>
          <a:prstGeom prst="rect">
            <a:avLst/>
          </a:prstGeom>
          <a:solidFill>
            <a:srgbClr val="DB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07008"/>
            <a:ext cx="320040" cy="91440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29844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D6FC8"/>
                </a:solidFill>
              </a:rPr>
              <a:t>allowed-tools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298448"/>
            <a:ext cx="7269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Merged into alwaysAllowRules (soft). Auto-allows listed tools — does NOT restrict others.
Skill shares main context: LLM can still call other tools, but they require user confirmation.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121408"/>
            <a:ext cx="11521440" cy="18288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176272"/>
            <a:ext cx="11521440" cy="914400"/>
          </a:xfrm>
          <a:prstGeom prst="rect">
            <a:avLst/>
          </a:prstGeom>
          <a:solidFill>
            <a:srgbClr val="D1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2176272"/>
            <a:ext cx="320040" cy="914400"/>
          </a:xfrm>
          <a:prstGeom prst="rect">
            <a:avLst/>
          </a:prstGeom>
          <a:solidFill>
            <a:srgbClr val="058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26771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58A5E"/>
                </a:solidFill>
              </a:rPr>
              <a:t>disable-model-invocation: true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267712"/>
            <a:ext cx="7269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After tool_result returns, skip LLM inference. Loop stops immediately.
Used for pure-script skills that don't need Claude to process output.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090672"/>
            <a:ext cx="11521440" cy="18288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145536"/>
            <a:ext cx="11521440" cy="914400"/>
          </a:xfrm>
          <a:prstGeom prst="rect">
            <a:avLst/>
          </a:prstGeom>
          <a:solidFill>
            <a:srgbClr val="ED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3145536"/>
            <a:ext cx="320040" cy="9144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3236976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6D28D9"/>
                </a:solidFill>
              </a:rPr>
              <a:t>context: fork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236976"/>
            <a:ext cx="7269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Creates independent fork context — does not share main session history.
Prevents skill from contaminating the main conversation state.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059935"/>
            <a:ext cx="11521440" cy="18288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4114800"/>
            <a:ext cx="11521440" cy="914400"/>
          </a:xfrm>
          <a:prstGeom prst="rect">
            <a:avLst/>
          </a:prstGeom>
          <a:solidFill>
            <a:srgbClr val="FFE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114800"/>
            <a:ext cx="320040" cy="914400"/>
          </a:xfrm>
          <a:prstGeom prst="rect">
            <a:avLst/>
          </a:prstGeom>
          <a:solidFill>
            <a:srgbClr val="C26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42062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C26100"/>
                </a:solidFill>
              </a:rPr>
              <a:t>agent: &lt;subagent_type&gt;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4206240"/>
            <a:ext cx="7269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Routes execution to a specific subagent type (e.g. Explore, Plan).
Runs inside that agent's isolated context with its tool whitelist.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029200"/>
            <a:ext cx="11521440" cy="18288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084064"/>
            <a:ext cx="11521440" cy="9144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5084064"/>
            <a:ext cx="320040" cy="914400"/>
          </a:xfrm>
          <a:prstGeom prst="rect">
            <a:avLst/>
          </a:prstGeom>
          <a:solidFill>
            <a:srgbClr val="92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517550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926000"/>
                </a:solidFill>
              </a:rPr>
              <a:t>! prefix commands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5175504"/>
            <a:ext cx="7269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Executed by framework BEFORE LLM sees the content. Output replaces the line.
Used for heavy preprocessing (e.g. compress 92 KB JSONL into a summary).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998464"/>
            <a:ext cx="11521440" cy="18288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6053328"/>
            <a:ext cx="11521440" cy="91440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6053328"/>
            <a:ext cx="320040" cy="9144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61447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B91C1C"/>
                </a:solidFill>
              </a:rPr>
              <a:t>allowed-tools vs Agent tools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6144768"/>
            <a:ext cx="7269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Skill allowed-tools = soft, shared context  |  Agent tools = hard, API-level isolation.
Agent LLM literally cannot see tools outside its whitelist; Skill LLM can still call them.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6967728"/>
            <a:ext cx="11521440" cy="18288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411480"/>
            <a:ext cx="11365992" cy="6035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2560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 i="0">
                <a:solidFill>
                  <a:srgbClr val="DBEAFB"/>
                </a:solidFill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A222E"/>
                </a:solidFill>
              </a:rPr>
              <a:t>Agent Tool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017520"/>
            <a:ext cx="3200400" cy="54864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607288"/>
                </a:solidFill>
              </a:rPr>
              <a:t>Subagents · IPC · multi-model execution · memory architecture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Agent Tool — 5 Built-in Subagent Types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77824"/>
            <a:ext cx="12188952" cy="36576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15568"/>
            <a:ext cx="11521440" cy="960120"/>
          </a:xfrm>
          <a:prstGeom prst="rect">
            <a:avLst/>
          </a:prstGeom>
          <a:solidFill>
            <a:srgbClr val="DB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15568"/>
            <a:ext cx="320040" cy="96012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18872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D6FC8"/>
                </a:solidFill>
              </a:rPr>
              <a:t>general-purpose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188720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7288"/>
                </a:solidFill>
              </a:rPr>
              <a:t>Tools: All tools (*)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591056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Complex multi-step tasks; full toolset available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139696"/>
            <a:ext cx="11521440" cy="960120"/>
          </a:xfrm>
          <a:prstGeom prst="rect">
            <a:avLst/>
          </a:prstGeom>
          <a:solidFill>
            <a:srgbClr val="D1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139696"/>
            <a:ext cx="320040" cy="960120"/>
          </a:xfrm>
          <a:prstGeom prst="rect">
            <a:avLst/>
          </a:prstGeom>
          <a:solidFill>
            <a:srgbClr val="058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21284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58A5E"/>
                </a:solidFill>
              </a:rPr>
              <a:t>Explore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212848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7288"/>
                </a:solidFill>
              </a:rPr>
              <a:t>Tools: All except Agent, ExitPlanMode, Edit, Write, NotebookEdit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15184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Fast codebase exploration; 3 depth levels (quick / medium / very thorough)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163824"/>
            <a:ext cx="11521440" cy="960120"/>
          </a:xfrm>
          <a:prstGeom prst="rect">
            <a:avLst/>
          </a:prstGeom>
          <a:solidFill>
            <a:srgbClr val="ED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163824"/>
            <a:ext cx="320040" cy="96012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236976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6D28D9"/>
                </a:solidFill>
              </a:rPr>
              <a:t>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236976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7288"/>
                </a:solidFill>
              </a:rPr>
              <a:t>Tools: Same as Explore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639312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Architecture planning; returns step-by-step implementation plan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187952"/>
            <a:ext cx="11521440" cy="96012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4187952"/>
            <a:ext cx="320040" cy="960120"/>
          </a:xfrm>
          <a:prstGeom prst="rect">
            <a:avLst/>
          </a:prstGeom>
          <a:solidFill>
            <a:srgbClr val="92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426110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926000"/>
                </a:solidFill>
              </a:rPr>
              <a:t>claude-code-guide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4261104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7288"/>
                </a:solidFill>
              </a:rPr>
              <a:t>Tools: Glob, Grep, Read, WebFetch, WebSearch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663440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Answers Claude Code / SDK / API questions; supports resume parameter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212080"/>
            <a:ext cx="11521440" cy="960120"/>
          </a:xfrm>
          <a:prstGeom prst="rect">
            <a:avLst/>
          </a:prstGeom>
          <a:solidFill>
            <a:srgbClr val="FFE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212080"/>
            <a:ext cx="320040" cy="960120"/>
          </a:xfrm>
          <a:prstGeom prst="rect">
            <a:avLst/>
          </a:prstGeom>
          <a:solidFill>
            <a:srgbClr val="C26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28523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C26100"/>
                </a:solidFill>
              </a:rPr>
              <a:t>statusline-setup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5285232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7288"/>
                </a:solidFill>
              </a:rPr>
              <a:t>Tools: Read, Edit only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5687568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Configures Claude Code status line settings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6263640"/>
            <a:ext cx="11521440" cy="438912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6309360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07288"/>
                </a:solidFill>
              </a:rPr>
              <a:t>Verified: Explore subagent runs on claude-haiku-4-5-20251001 while main agent runs claude-sonnet-4-6 — different models within one session.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Subagent Architecture — Isolation, IPC, Memory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77824"/>
            <a:ext cx="12188952" cy="36576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349240" cy="1353312"/>
          </a:xfrm>
          <a:prstGeom prst="rect">
            <a:avLst/>
          </a:prstGeom>
          <a:solidFill>
            <a:srgbClr val="DB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320040" cy="1353312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234440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Independent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673352"/>
            <a:ext cx="4663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Each subagent has its own context window.
Main agent's conversation history is NOT shared.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578608"/>
            <a:ext cx="5349240" cy="1353312"/>
          </a:xfrm>
          <a:prstGeom prst="rect">
            <a:avLst/>
          </a:prstGeom>
          <a:solidFill>
            <a:srgbClr val="D1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578608"/>
            <a:ext cx="320040" cy="1353312"/>
          </a:xfrm>
          <a:prstGeom prst="rect">
            <a:avLst/>
          </a:prstGeom>
          <a:solidFill>
            <a:srgbClr val="058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670048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58A5E"/>
                </a:solidFill>
              </a:rPr>
              <a:t>Recorded in Parent JSONL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108960"/>
            <a:ext cx="4663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Subagent activity stored as agent_progress in parent session.
No separate JSONL file generated.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014216"/>
            <a:ext cx="5349240" cy="1353312"/>
          </a:xfrm>
          <a:prstGeom prst="rect">
            <a:avLst/>
          </a:prstGeom>
          <a:solidFill>
            <a:srgbClr val="ED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4014216"/>
            <a:ext cx="320040" cy="135331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4105656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</a:rPr>
              <a:t>Resume Support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544568"/>
            <a:ext cx="4663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Agent tool returns agentId (prefix 'a' = local_agent).
Pass to resume parameter to continue same subagent.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449824"/>
            <a:ext cx="5349240" cy="1353312"/>
          </a:xfrm>
          <a:prstGeom prst="rect">
            <a:avLst/>
          </a:prstGeom>
          <a:solidFill>
            <a:srgbClr val="FFE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5449824"/>
            <a:ext cx="320040" cy="1353312"/>
          </a:xfrm>
          <a:prstGeom prst="rect">
            <a:avLst/>
          </a:prstGeom>
          <a:solidFill>
            <a:srgbClr val="C26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5541264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26100"/>
                </a:solidFill>
              </a:rPr>
              <a:t>Full Cost Accounting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980176"/>
            <a:ext cx="4663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tool_result includes totalDurationMs, totalTokens, totalToolUseCount
— per-subagent cost visibility.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1143000"/>
            <a:ext cx="5943600" cy="29260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89320" y="1143000"/>
            <a:ext cx="5943600" cy="475488"/>
          </a:xfrm>
          <a:prstGeom prst="rect">
            <a:avLst/>
          </a:prstGeom>
          <a:solidFill>
            <a:srgbClr val="DB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118872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IPC Message Types (Main ↔ Sub)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1682496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22E"/>
                </a:solidFill>
              </a:rPr>
              <a:t>task_assignment       →  main sends task to subagent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1984248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22E"/>
                </a:solidFill>
              </a:rPr>
              <a:t>idle_notification     ←  sub reports task done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286000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22E"/>
                </a:solidFill>
              </a:rPr>
              <a:t>agent_progress        ←  sub reports each step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2587752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22E"/>
                </a:solidFill>
              </a:rPr>
              <a:t>permission_request    ←  sub asks for permission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2889504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22E"/>
                </a:solidFill>
              </a:rPr>
              <a:t>permission_response   →  main approves/denies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3191256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22E"/>
                </a:solidFill>
              </a:rPr>
              <a:t>plan_approval_request / response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493008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22E"/>
                </a:solidFill>
              </a:rPr>
              <a:t>shutdown_request / approved / rejected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89320" y="4206240"/>
            <a:ext cx="5943600" cy="24231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89320" y="4206240"/>
            <a:ext cx="5943600" cy="475488"/>
          </a:xfrm>
          <a:prstGeom prst="rect">
            <a:avLst/>
          </a:prstGeom>
          <a:solidFill>
            <a:srgbClr val="D1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2200" y="425196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58A5E"/>
                </a:solidFill>
              </a:rPr>
              <a:t>Agent Memory Directories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4773168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58A5E"/>
                </a:solidFill>
              </a:rPr>
              <a:t>.claude/agent-memory/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5093207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7288"/>
                </a:solidFill>
              </a:rPr>
              <a:t>Project scope — version-controlled, shared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5431536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58A5E"/>
                </a:solidFill>
              </a:rPr>
              <a:t>~/.claude/agent-memory/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2200" y="5751575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7288"/>
                </a:solidFill>
              </a:rPr>
              <a:t>User scope — cross-project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6089903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58A5E"/>
                </a:solidFill>
              </a:rPr>
              <a:t>.claude/agent-memory-local/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6409943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7288"/>
                </a:solidFill>
              </a:rPr>
              <a:t>Local — not committed to git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411480"/>
            <a:ext cx="11365992" cy="6035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2560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 i="0">
                <a:solidFill>
                  <a:srgbClr val="DBEAFB"/>
                </a:solidFill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A222E"/>
                </a:solidFill>
              </a:rPr>
              <a:t>Hooks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017520"/>
            <a:ext cx="3200400" cy="54864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607288"/>
                </a:solidFill>
              </a:rPr>
              <a:t>21 lifecycle events · command &amp; prompt hook types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Hooks — Lifecycle Event System  (Source: binary 2.1.72)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77824"/>
            <a:ext cx="12188952" cy="36576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22E"/>
                </a:solidFill>
              </a:rPr>
              <a:t>21 supported events: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1627632" cy="310896"/>
          </a:xfrm>
          <a:prstGeom prst="rect">
            <a:avLst/>
          </a:prstGeom>
          <a:solidFill>
            <a:srgbClr val="DBEAFB"/>
          </a:solidFill>
          <a:ln w="10160">
            <a:solidFill>
              <a:srgbClr val="1D6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" y="1444752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6FC8"/>
                </a:solidFill>
              </a:rPr>
              <a:t>PreToolUse</a:t>
            </a:r>
          </a:p>
        </p:txBody>
      </p:sp>
      <p:sp>
        <p:nvSpPr>
          <p:cNvPr id="8" name="Rectangle 7"/>
          <p:cNvSpPr/>
          <p:nvPr/>
        </p:nvSpPr>
        <p:spPr>
          <a:xfrm>
            <a:off x="2057400" y="1417320"/>
            <a:ext cx="1627632" cy="310896"/>
          </a:xfrm>
          <a:prstGeom prst="rect">
            <a:avLst/>
          </a:prstGeom>
          <a:solidFill>
            <a:srgbClr val="DBEAFB"/>
          </a:solidFill>
          <a:ln w="10160">
            <a:solidFill>
              <a:srgbClr val="1D6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12264" y="1444752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6FC8"/>
                </a:solidFill>
              </a:rPr>
              <a:t>PostToolUse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40" y="1417320"/>
            <a:ext cx="1627632" cy="310896"/>
          </a:xfrm>
          <a:prstGeom prst="rect">
            <a:avLst/>
          </a:prstGeom>
          <a:solidFill>
            <a:srgbClr val="DBEAFB"/>
          </a:solidFill>
          <a:ln w="10160">
            <a:solidFill>
              <a:srgbClr val="1D6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03904" y="1444752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6FC8"/>
                </a:solidFill>
              </a:rPr>
              <a:t>PostToolUseFailure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40680" y="1417320"/>
            <a:ext cx="1627632" cy="310896"/>
          </a:xfrm>
          <a:prstGeom prst="rect">
            <a:avLst/>
          </a:prstGeom>
          <a:solidFill>
            <a:srgbClr val="F4F6F9"/>
          </a:solidFill>
          <a:ln w="10160">
            <a:solidFill>
              <a:srgbClr val="607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95544" y="1444752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7288"/>
                </a:solidFill>
              </a:rPr>
              <a:t>UserPromptSubmit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1417320"/>
            <a:ext cx="1627632" cy="310896"/>
          </a:xfrm>
          <a:prstGeom prst="rect">
            <a:avLst/>
          </a:prstGeom>
          <a:solidFill>
            <a:srgbClr val="F4F6F9"/>
          </a:solidFill>
          <a:ln w="10160">
            <a:solidFill>
              <a:srgbClr val="607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87184" y="1444752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7288"/>
                </a:solidFill>
              </a:rPr>
              <a:t>Notification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23960" y="1417320"/>
            <a:ext cx="1627632" cy="310896"/>
          </a:xfrm>
          <a:prstGeom prst="rect">
            <a:avLst/>
          </a:prstGeom>
          <a:solidFill>
            <a:srgbClr val="F4F6F9"/>
          </a:solidFill>
          <a:ln w="10160">
            <a:solidFill>
              <a:srgbClr val="607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78824" y="1444752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7288"/>
                </a:solidFill>
              </a:rPr>
              <a:t>SessionStart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0" y="1417320"/>
            <a:ext cx="1627632" cy="310896"/>
          </a:xfrm>
          <a:prstGeom prst="rect">
            <a:avLst/>
          </a:prstGeom>
          <a:solidFill>
            <a:srgbClr val="F4F6F9"/>
          </a:solidFill>
          <a:ln w="10160">
            <a:solidFill>
              <a:srgbClr val="607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70464" y="1444752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7288"/>
                </a:solidFill>
              </a:rPr>
              <a:t>SessionEnd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1801368"/>
            <a:ext cx="1627632" cy="310896"/>
          </a:xfrm>
          <a:prstGeom prst="rect">
            <a:avLst/>
          </a:prstGeom>
          <a:solidFill>
            <a:srgbClr val="F4F6F9"/>
          </a:solidFill>
          <a:ln w="10160">
            <a:solidFill>
              <a:srgbClr val="607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" y="1828800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7288"/>
                </a:solidFill>
              </a:rPr>
              <a:t>Stop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57400" y="1801368"/>
            <a:ext cx="1627632" cy="310896"/>
          </a:xfrm>
          <a:prstGeom prst="rect">
            <a:avLst/>
          </a:prstGeom>
          <a:solidFill>
            <a:srgbClr val="F4F6F9"/>
          </a:solidFill>
          <a:ln w="10160">
            <a:solidFill>
              <a:srgbClr val="607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12264" y="1828800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7288"/>
                </a:solidFill>
              </a:rPr>
              <a:t>SubagentStart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1801368"/>
            <a:ext cx="1627632" cy="310896"/>
          </a:xfrm>
          <a:prstGeom prst="rect">
            <a:avLst/>
          </a:prstGeom>
          <a:solidFill>
            <a:srgbClr val="F4F6F9"/>
          </a:solidFill>
          <a:ln w="10160">
            <a:solidFill>
              <a:srgbClr val="607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03904" y="1828800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7288"/>
                </a:solidFill>
              </a:rPr>
              <a:t>SubagentStop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0680" y="1801368"/>
            <a:ext cx="1627632" cy="310896"/>
          </a:xfrm>
          <a:prstGeom prst="rect">
            <a:avLst/>
          </a:prstGeom>
          <a:solidFill>
            <a:srgbClr val="F4F6F9"/>
          </a:solidFill>
          <a:ln w="10160">
            <a:solidFill>
              <a:srgbClr val="607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95544" y="1828800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7288"/>
                </a:solidFill>
              </a:rPr>
              <a:t>PreCompact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32320" y="1801368"/>
            <a:ext cx="1627632" cy="310896"/>
          </a:xfrm>
          <a:prstGeom prst="rect">
            <a:avLst/>
          </a:prstGeom>
          <a:solidFill>
            <a:srgbClr val="F4F6F9"/>
          </a:solidFill>
          <a:ln w="10160">
            <a:solidFill>
              <a:srgbClr val="607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87184" y="1828800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7288"/>
                </a:solidFill>
              </a:rPr>
              <a:t>PermissionRequest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23960" y="1801368"/>
            <a:ext cx="1627632" cy="310896"/>
          </a:xfrm>
          <a:prstGeom prst="rect">
            <a:avLst/>
          </a:prstGeom>
          <a:solidFill>
            <a:srgbClr val="F4F6F9"/>
          </a:solidFill>
          <a:ln w="10160">
            <a:solidFill>
              <a:srgbClr val="607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78824" y="1828800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7288"/>
                </a:solidFill>
              </a:rPr>
              <a:t>Setup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515600" y="1801368"/>
            <a:ext cx="1627632" cy="310896"/>
          </a:xfrm>
          <a:prstGeom prst="rect">
            <a:avLst/>
          </a:prstGeom>
          <a:solidFill>
            <a:srgbClr val="F4F6F9"/>
          </a:solidFill>
          <a:ln w="10160">
            <a:solidFill>
              <a:srgbClr val="607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70464" y="1828800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7288"/>
                </a:solidFill>
              </a:rPr>
              <a:t>TeammateIdle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2185416"/>
            <a:ext cx="1627632" cy="310896"/>
          </a:xfrm>
          <a:prstGeom prst="rect">
            <a:avLst/>
          </a:prstGeom>
          <a:solidFill>
            <a:srgbClr val="F4F6F9"/>
          </a:solidFill>
          <a:ln w="10160">
            <a:solidFill>
              <a:srgbClr val="607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4" y="2212848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7288"/>
                </a:solidFill>
              </a:rPr>
              <a:t>TaskCompleted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57400" y="2185416"/>
            <a:ext cx="1627632" cy="310896"/>
          </a:xfrm>
          <a:prstGeom prst="rect">
            <a:avLst/>
          </a:prstGeom>
          <a:solidFill>
            <a:srgbClr val="F4F6F9"/>
          </a:solidFill>
          <a:ln w="10160">
            <a:solidFill>
              <a:srgbClr val="607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12264" y="2212848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7288"/>
                </a:solidFill>
              </a:rPr>
              <a:t>Elicitation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749040" y="2185416"/>
            <a:ext cx="1627632" cy="310896"/>
          </a:xfrm>
          <a:prstGeom prst="rect">
            <a:avLst/>
          </a:prstGeom>
          <a:solidFill>
            <a:srgbClr val="F4F6F9"/>
          </a:solidFill>
          <a:ln w="10160">
            <a:solidFill>
              <a:srgbClr val="607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03904" y="2212848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7288"/>
                </a:solidFill>
              </a:rPr>
              <a:t>ElicitationResult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40680" y="2185416"/>
            <a:ext cx="1627632" cy="310896"/>
          </a:xfrm>
          <a:prstGeom prst="rect">
            <a:avLst/>
          </a:prstGeom>
          <a:solidFill>
            <a:srgbClr val="F4F6F9"/>
          </a:solidFill>
          <a:ln w="10160">
            <a:solidFill>
              <a:srgbClr val="607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95544" y="2212848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7288"/>
                </a:solidFill>
              </a:rPr>
              <a:t>ConfigChange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132320" y="2185416"/>
            <a:ext cx="1627632" cy="310896"/>
          </a:xfrm>
          <a:prstGeom prst="rect">
            <a:avLst/>
          </a:prstGeom>
          <a:solidFill>
            <a:srgbClr val="F4F6F9"/>
          </a:solidFill>
          <a:ln w="10160">
            <a:solidFill>
              <a:srgbClr val="607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87184" y="2212848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7288"/>
                </a:solidFill>
              </a:rPr>
              <a:t>WorktreeCreate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823960" y="2185416"/>
            <a:ext cx="1627632" cy="310896"/>
          </a:xfrm>
          <a:prstGeom prst="rect">
            <a:avLst/>
          </a:prstGeom>
          <a:solidFill>
            <a:srgbClr val="F4F6F9"/>
          </a:solidFill>
          <a:ln w="10160">
            <a:solidFill>
              <a:srgbClr val="607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78824" y="2212848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7288"/>
                </a:solidFill>
              </a:rPr>
              <a:t>WorktreeRemove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515600" y="2185416"/>
            <a:ext cx="1627632" cy="310896"/>
          </a:xfrm>
          <a:prstGeom prst="rect">
            <a:avLst/>
          </a:prstGeom>
          <a:solidFill>
            <a:srgbClr val="F4F6F9"/>
          </a:solidFill>
          <a:ln w="10160">
            <a:solidFill>
              <a:srgbClr val="607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70464" y="2212848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7288"/>
                </a:solidFill>
              </a:rPr>
              <a:t>InstructionsLoaded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2852928"/>
            <a:ext cx="5486400" cy="37033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2852928"/>
            <a:ext cx="5486400" cy="475488"/>
          </a:xfrm>
          <a:prstGeom prst="rect">
            <a:avLst/>
          </a:prstGeom>
          <a:solidFill>
            <a:srgbClr val="D1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289864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8A5E"/>
                </a:solidFill>
              </a:rPr>
              <a:t>command  hook type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340156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58A5E"/>
                </a:solidFill>
              </a:rPr>
              <a:t>command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43200" y="340156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Shell command to run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78561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607288"/>
                </a:solidFill>
              </a:rPr>
              <a:t>timeout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43200" y="3785616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Seconds before kill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416966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607288"/>
                </a:solidFill>
              </a:rPr>
              <a:t>statusMessage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4169664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Spinner label in UI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455371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607288"/>
                </a:solidFill>
              </a:rPr>
              <a:t>once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43200" y="455371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Remove after first run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493776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607288"/>
                </a:solidFill>
              </a:rPr>
              <a:t>async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43200" y="493776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Non-blocking background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53218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607288"/>
                </a:solidFill>
              </a:rPr>
              <a:t>asyncRewake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43200" y="532180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Background; exit code 2 wakes model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09360" y="2852928"/>
            <a:ext cx="5577840" cy="37033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09360" y="2852928"/>
            <a:ext cx="5577840" cy="475488"/>
          </a:xfrm>
          <a:prstGeom prst="rect">
            <a:avLst/>
          </a:prstGeom>
          <a:solidFill>
            <a:srgbClr val="ED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92240" y="289864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D28D9"/>
                </a:solidFill>
              </a:rPr>
              <a:t>prompt  hook type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92240" y="340156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6D28D9"/>
                </a:solidFill>
              </a:rPr>
              <a:t>prompt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41080" y="3401568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Prompt text ($ARGUMENTS = hook input JSON)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92240" y="378561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607288"/>
                </a:solidFill>
              </a:rPr>
              <a:t>model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41080" y="3785616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LLM model to use (default: small fast model)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92240" y="416966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607288"/>
                </a:solidFill>
              </a:rPr>
              <a:t>timeout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41080" y="4169664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Seconds before abort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92240" y="455371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607288"/>
                </a:solidFill>
              </a:rPr>
              <a:t>statusMessage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41080" y="4553712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Spinner label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92240" y="493776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607288"/>
                </a:solidFill>
              </a:rPr>
              <a:t>once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41080" y="493776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Remove after first run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6620256"/>
            <a:ext cx="11521440" cy="182880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8640" y="6601968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07288"/>
                </a:solidFill>
              </a:rPr>
              <a:t>Hook executions appear in JSONL as progress records  ·  hookName format: "PostToolUse:Read"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411480"/>
            <a:ext cx="11365992" cy="6035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2560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 i="0">
                <a:solidFill>
                  <a:srgbClr val="DBEAFB"/>
                </a:solidFill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A222E"/>
                </a:solidFill>
              </a:rPr>
              <a:t>Permission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017520"/>
            <a:ext cx="3200400" cy="54864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607288"/>
                </a:solidFill>
              </a:rPr>
              <a:t>Two-layer design · Bash matching logic · permission modes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Permission System — Two Independent Layers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77824"/>
            <a:ext cx="12188952" cy="36576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15568"/>
            <a:ext cx="11521440" cy="2514600"/>
          </a:xfrm>
          <a:prstGeom prst="rect">
            <a:avLst/>
          </a:prstGeom>
          <a:solidFill>
            <a:srgbClr val="DB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15568"/>
            <a:ext cx="347472" cy="251460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188720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6FC8"/>
                </a:solidFill>
              </a:rPr>
              <a:t>Layer 1 — Tool Permission System  (configurable via settings.json)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6276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1A222E"/>
                </a:solidFill>
              </a:rPr>
              <a:t>permissions.allow: ["Edit", "Bash(git:*)", "WebFetch(domain:docs.anthropic.com)"]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0299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Bash Matching Rules  (Source: binary functions Nc$, IKL, aVH):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2316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D6FC8"/>
                </a:solidFill>
              </a:rPr>
              <a:t>prefix  Bash(git:*)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423160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matches: git / git status / xargs git — but NEVER compound commands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752344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58A5E"/>
                </a:solidFill>
              </a:rPr>
              <a:t>exact   Bash(git status)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752344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matches only that exact string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081527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C26100"/>
                </a:solidFill>
              </a:rPr>
              <a:t>wildcard Bash(git *)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081527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glob-style pattern matching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383280"/>
            <a:ext cx="11064240" cy="365760"/>
          </a:xfrm>
          <a:prstGeom prst="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419856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B91C1C"/>
                </a:solidFill>
              </a:rPr>
              <a:t>Security: compound commands (&amp;&amp;, ||, ;, |) NEVER match prefix rules — prevents "git status &amp;&amp; rm -rf /" bypass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58768"/>
            <a:ext cx="11521440" cy="1325880"/>
          </a:xfrm>
          <a:prstGeom prst="rect">
            <a:avLst/>
          </a:prstGeom>
          <a:solidFill>
            <a:srgbClr val="ED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3858768"/>
            <a:ext cx="347472" cy="132588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931920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D28D9"/>
                </a:solidFill>
              </a:rPr>
              <a:t>Layer 2 — Judgement Confirmation  (NOT configurable)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370832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Claude independently pauses when: action exceeds request scope · unexpected state detected · request is ambiguous.
Cannot be turned off by allow rules. This reflects Claude's own risk assessment.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321808"/>
            <a:ext cx="11521440" cy="138988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5321808"/>
            <a:ext cx="11521440" cy="457200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376672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22E"/>
                </a:solidFill>
              </a:rPr>
              <a:t>Permission Modes  (global behaviour, separate from allow rules)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52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607288"/>
                </a:solidFill>
              </a:rPr>
              <a:t>default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3160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22E"/>
                </a:solidFill>
              </a:rPr>
              <a:t>Ask for everything not explicitly allowed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79" y="5852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D6FC8"/>
                </a:solidFill>
              </a:rPr>
              <a:t>acceptEdits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199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22E"/>
                </a:solidFill>
              </a:rPr>
              <a:t>Auto-accept file edits; Bash still needs confirmation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1996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91C1C"/>
                </a:solidFill>
              </a:rPr>
              <a:t>bypassPermissions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3160" y="619963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22E"/>
                </a:solidFill>
              </a:rPr>
              <a:t>Skip all tool permission checks (dangerous)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61996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26100"/>
                </a:solidFill>
              </a:rPr>
              <a:t>dontAsk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199" y="619963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22E"/>
                </a:solidFill>
              </a:rPr>
              <a:t>No confirmations at all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54710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6D28D9"/>
                </a:solidFill>
              </a:rPr>
              <a:t>plan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654710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22E"/>
                </a:solidFill>
              </a:rPr>
              <a:t>Planning only — restricts actual execution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79" y="654710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607288"/>
                </a:solidFill>
              </a:rPr>
              <a:t>auto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199" y="654710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22E"/>
                </a:solidFill>
              </a:rPr>
              <a:t>Non-interactive (claude -p); internal use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411480"/>
            <a:ext cx="11365992" cy="6035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2560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 i="0">
                <a:solidFill>
                  <a:srgbClr val="DBEAFB"/>
                </a:solidFill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A222E"/>
                </a:solidFill>
              </a:rPr>
              <a:t>Extended Thinking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017520"/>
            <a:ext cx="3200400" cy="54864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607288"/>
                </a:solidFill>
              </a:rPr>
              <a:t>Plaintext vs encrypted — two states of the thinking block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Extended Thinking — What's Actually in the JSONL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77824"/>
            <a:ext cx="12188952" cy="36576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70432"/>
            <a:ext cx="5532120" cy="397763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70432"/>
            <a:ext cx="5532120" cy="475488"/>
          </a:xfrm>
          <a:prstGeom prst="rect">
            <a:avLst/>
          </a:prstGeom>
          <a:solidFill>
            <a:srgbClr val="D1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1615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58A5E"/>
                </a:solidFill>
              </a:rPr>
              <a:t>State A — Plaintext  (legacy enabled mode)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A5E"/>
                </a:solidFill>
              </a:rPr>
              <a:t>{
  "type": "thinking",
  "thinking": "Let me reason about...",
  "signature": "EpYCC..."
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24612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thinking field contains readable text.
Beta flag: interleaved-thinking-2025-05-14
Status: deprecated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170432"/>
            <a:ext cx="5532120" cy="397763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170432"/>
            <a:ext cx="5532120" cy="475488"/>
          </a:xfrm>
          <a:prstGeom prst="rect">
            <a:avLst/>
          </a:prstGeom>
          <a:solidFill>
            <a:srgbClr val="ED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6248" y="121615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</a:rPr>
              <a:t>State B — Encrypted  (adaptive mode, current default)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6248" y="1719072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D28D9"/>
                </a:solidFill>
              </a:rPr>
              <a:t>{
  "type": "thinking",
  "thinking": "",
  "signature": "EpYCCkYIARAAGiA... (longer)"
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324612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thinking field is empty string.
Server processes thinking internally.
Beta flag: adaptive-thinking-2026-01-28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5303520"/>
            <a:ext cx="11521440" cy="804672"/>
          </a:xfrm>
          <a:prstGeom prst="rect">
            <a:avLst/>
          </a:prstGeom>
          <a:solidFill>
            <a:srgbClr val="EDE4FF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537667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D28D9"/>
                </a:solidFill>
              </a:rPr>
              <a:t>signature field: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5376672"/>
            <a:ext cx="8869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Cryptographic proof that the thinking block is genuine — prevents injecting fake thinking into subsequent turns.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6217920"/>
            <a:ext cx="11521440" cy="502920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272784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7288"/>
                </a:solidFill>
              </a:rPr>
              <a:t>Settings: alwaysThinkingEnabled (default true)  ·  showThinkingSummaries: show in ctrl+o transcript view (default false)  ·  Toggle in Claude Code UI Settings dialog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Key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77824"/>
            <a:ext cx="12188952" cy="36576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15568"/>
            <a:ext cx="11521440" cy="868680"/>
          </a:xfrm>
          <a:prstGeom prst="rect">
            <a:avLst/>
          </a:prstGeom>
          <a:solidFill>
            <a:srgbClr val="DB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15568"/>
            <a:ext cx="320040" cy="86868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20700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D6FC8"/>
                </a:solidFill>
              </a:rPr>
              <a:t>Agentic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207008"/>
            <a:ext cx="8549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One inference can batch-emit multiple tool_use blocks (parallel execution). Loop ends only when LLM returns no tool_use. Subagents have independent loops.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48256"/>
            <a:ext cx="11521440" cy="868680"/>
          </a:xfrm>
          <a:prstGeom prst="rect">
            <a:avLst/>
          </a:prstGeom>
          <a:solidFill>
            <a:srgbClr val="D1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048256"/>
            <a:ext cx="320040" cy="868680"/>
          </a:xfrm>
          <a:prstGeom prst="rect">
            <a:avLst/>
          </a:prstGeom>
          <a:solidFill>
            <a:srgbClr val="058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13969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58A5E"/>
                </a:solidFill>
              </a:rPr>
              <a:t>Tool Loading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139696"/>
            <a:ext cx="8549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9 pre-loaded (zero latency) vs 16 deferred (save tokens, +1 round-trip via ToolSearch). Dedicated tools bypass shell — finer permission granularity than Bash.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80944"/>
            <a:ext cx="11521440" cy="868680"/>
          </a:xfrm>
          <a:prstGeom prst="rect">
            <a:avLst/>
          </a:prstGeom>
          <a:solidFill>
            <a:srgbClr val="ED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980944"/>
            <a:ext cx="320040" cy="86868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07238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6D28D9"/>
                </a:solidFill>
              </a:rPr>
              <a:t>Skill System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072384"/>
            <a:ext cx="8549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allowed-tools is soft (context shared). Agent tool is hard (API-level isolation). ! prefix runs preprocessing before LLM sees content.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913632"/>
            <a:ext cx="11521440" cy="868680"/>
          </a:xfrm>
          <a:prstGeom prst="rect">
            <a:avLst/>
          </a:prstGeom>
          <a:solidFill>
            <a:srgbClr val="FFE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913632"/>
            <a:ext cx="320040" cy="868680"/>
          </a:xfrm>
          <a:prstGeom prst="rect">
            <a:avLst/>
          </a:prstGeom>
          <a:solidFill>
            <a:srgbClr val="C26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00507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C26100"/>
                </a:solidFill>
              </a:rPr>
              <a:t>Subagent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005072"/>
            <a:ext cx="8549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Different models can coexist in one session (Haiku for Explore, Sonnet for main). All subagent activity captured in parent JSONL as agent_progress.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846320"/>
            <a:ext cx="11521440" cy="86868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846320"/>
            <a:ext cx="320040" cy="86868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493776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B91C1C"/>
                </a:solidFill>
              </a:rPr>
              <a:t>Permission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937760"/>
            <a:ext cx="8549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Compound commands never match prefix rules — anti-jailbreak by design (verified in source). Layer 2 judgement confirmation is not configurable.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779008"/>
            <a:ext cx="11521440" cy="86868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779008"/>
            <a:ext cx="320040" cy="868680"/>
          </a:xfrm>
          <a:prstGeom prst="rect">
            <a:avLst/>
          </a:prstGeom>
          <a:solidFill>
            <a:srgbClr val="92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87044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926000"/>
                </a:solidFill>
              </a:rPr>
              <a:t>Observability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870448"/>
            <a:ext cx="8549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222E"/>
                </a:solidFill>
              </a:rPr>
              <a:t>JSONL records everything: tool calls, hooks, subagent steps, token usage. Permission dialogs go through IPC only — they do NOT appear in JSONL.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4552" cy="594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1A222E"/>
                </a:solidFill>
              </a:rPr>
              <a:t>Q &amp; 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017520"/>
            <a:ext cx="11274552" cy="50292"/>
          </a:xfrm>
          <a:prstGeom prst="rect">
            <a:avLst/>
          </a:prstGeom>
          <a:solidFill>
            <a:srgbClr val="EA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2461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607288"/>
                </a:solidFill>
              </a:rPr>
              <a:t>All findings cross-validated through: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886200"/>
            <a:ext cx="3108960" cy="1234440"/>
          </a:xfrm>
          <a:prstGeom prst="rect">
            <a:avLst/>
          </a:prstGeom>
          <a:solidFill>
            <a:srgbClr val="DBEAFB"/>
          </a:solidFill>
          <a:ln w="15240">
            <a:solidFill>
              <a:srgbClr val="1D6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8760" y="3950208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6FC8"/>
                </a:solidFill>
              </a:rPr>
              <a:t>Session JSONL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4407408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Runtime ground truth — what actually happened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3886200"/>
            <a:ext cx="3108960" cy="1234440"/>
          </a:xfrm>
          <a:prstGeom prst="rect">
            <a:avLst/>
          </a:prstGeom>
          <a:solidFill>
            <a:srgbClr val="D1FAEA"/>
          </a:solidFill>
          <a:ln w="15240">
            <a:solidFill>
              <a:srgbClr val="058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3950208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8A5E"/>
                </a:solidFill>
              </a:rPr>
              <a:t>Source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4407408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Binary 2.1.72 — permission logic, hook schema, tool list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9" y="3886200"/>
            <a:ext cx="3108960" cy="1234440"/>
          </a:xfrm>
          <a:prstGeom prst="rect">
            <a:avLst/>
          </a:prstGeom>
          <a:solidFill>
            <a:srgbClr val="EDE4FF"/>
          </a:solidFill>
          <a:ln w="1524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40" y="3950208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D28D9"/>
                </a:solidFill>
              </a:rPr>
              <a:t>Official Docs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4407408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docs.anthropic.com — intended design &amp; security guarantees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