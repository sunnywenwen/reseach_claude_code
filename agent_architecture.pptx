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292608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67712"/>
            <a:ext cx="12188952" cy="54864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8FF"/>
                </a:solidFill>
              </a:rPr>
              <a:t>Best Practices &amp; Patterns for Production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CB1"/>
                </a:solidFill>
              </a:rPr>
              <a:t>Tech Sharing  ·  2026</a:t>
            </a:r>
          </a:p>
        </p:txBody>
      </p:sp>
      <p:sp>
        <p:nvSpPr>
          <p:cNvPr id="7" name="Oval 6"/>
          <p:cNvSpPr/>
          <p:nvPr/>
        </p:nvSpPr>
        <p:spPr>
          <a:xfrm>
            <a:off x="9418320" y="0"/>
            <a:ext cx="2194560" cy="2194560"/>
          </a:xfrm>
          <a:prstGeom prst="ellipse">
            <a:avLst/>
          </a:prstGeom>
          <a:solidFill>
            <a:srgbClr val="00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98480" y="-91439"/>
            <a:ext cx="1097280" cy="1097280"/>
          </a:xfrm>
          <a:prstGeom prst="ellipse">
            <a:avLst/>
          </a:prstGeom>
          <a:solidFill>
            <a:srgbClr val="401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81160" y="45720"/>
            <a:ext cx="640080" cy="640080"/>
          </a:xfrm>
          <a:prstGeom prst="ellipse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2471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1247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Why Architecture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819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Common failure modes when scaling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41448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Core Building Blocks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Tools · Memory · Planning · Execution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31335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04487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9044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Single vs Multi-Agent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When to split, when to stay monolithic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21224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294376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9437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Orchestration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5157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Router · Parallel · Pipeline · Supervisor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051560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12471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1247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Reliability &amp;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15819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Retries, self-critique, human-in-the-loop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2441448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514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5146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971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Tracing, evals, cost management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831335"/>
            <a:ext cx="5577840" cy="1234440"/>
          </a:xfrm>
          <a:prstGeom prst="rect">
            <a:avLst/>
          </a:prstGeom>
          <a:solidFill>
            <a:srgbClr val="161D27"/>
          </a:solidFill>
          <a:ln w="19050">
            <a:solidFill>
              <a:srgbClr val="25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904487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9044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Real-world Design Walk-through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3616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End-to-end case study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Why Architecture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The gap between a demo and a production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Common Failure Modes in Naive Agent Designs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7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Context Overflow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Long task chains exceed context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653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summarization → hallucination spikes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09728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207007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Cascading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5727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One bad tool call poisons all downstream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653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retry / validation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07007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Runaway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5727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termination condition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653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Infinite self-correction loops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4612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55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God-Agent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216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Everything in one prompt → unmaintainable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142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Hard to debug, impossible to unit-test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324612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3355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Blind 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7216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 observability into sub-steps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0142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Can't diagnose failures post-hoc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246120"/>
            <a:ext cx="3749039" cy="192024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355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Trust Without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7216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Tool outputs accepted verbatim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0142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Prompt injection via environment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Core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The four pillars every agent is composed of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Four Pillars of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2788920" cy="539496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2788920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1155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FF"/>
                </a:solidFill>
              </a:rPr>
              <a:t>🛠 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727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Wrap every external call as a typed 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97510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Return structured errors, never raw exceptions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Idempotent where 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7977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Rate-limit &amp; timeout at the tool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005840"/>
            <a:ext cx="2788920" cy="539496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64408" y="1005840"/>
            <a:ext cx="27889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4136" y="11155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3AED"/>
                </a:solidFill>
              </a:rPr>
              <a:t>🧠 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15727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In-context  – current scratchpad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197510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External    – vector store / DB lookup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Episodic    – past conversation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6" y="277977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Procedural  – learned skill / few-shot cache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005840"/>
            <a:ext cx="2788920" cy="53949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1005840"/>
            <a:ext cx="2788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1155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📋  Planning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15727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ReAct: reason then act, one step at a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197510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Plan-and-Execute: upfront decomposition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Tree-of-Thought for branching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77977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Reflection loop for quality 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53144" y="1005840"/>
            <a:ext cx="2788920" cy="539496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53144" y="1005840"/>
            <a:ext cx="27889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2872" y="11155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⚙️  Execution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15727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Sequential vs parallel tool calls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197510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Structured output (JSON schema) enforced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Deterministic seed for reproducibility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277977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• Hard stop on iteration budget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Single vs 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Choosing the right scope for your use case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Single-Agent vs Multi-Agent: Decision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530352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</a:rPr>
              <a:t>✅  Single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Task fits in one context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Linear, sequential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Low latency is 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Simple tool surface (&lt; ~8 tools)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Easy to test 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No parallelism needed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0C8FF"/>
                </a:solidFill>
              </a:rPr>
              <a:t>Examples: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Customer support 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Code review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59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Single-document summarizer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05840"/>
            <a:ext cx="5577840" cy="530352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07899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3AED"/>
                </a:solidFill>
              </a:rPr>
              <a:t>🔀  Multi-Agent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Task too large for one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Subtasks can run in parallel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240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Need independent 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60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Domain specialists reduce errors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880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Independent scaling per sub-task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Fault isolation between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204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40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0C8FF"/>
                </a:solidFill>
              </a:rPr>
              <a:t>Examples: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05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Full-stack code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805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Research + analysis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80059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8B9CB1"/>
                </a:solidFill>
              </a:rPr>
              <a:t>  • Multi-step data transformation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B9CB1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Orchestration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How agents coordinate and delegate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Pattern 1 — Router / Classifier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CB1"/>
                </a:solidFill>
              </a:rPr>
              <a:t>Dispatch requests to specialized sub-agents based on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1371600"/>
            <a:ext cx="228600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1371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Router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2286000" cy="64008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Code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2926080"/>
            <a:ext cx="228600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Search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926080"/>
            <a:ext cx="228600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Data Agent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514600" y="2011680"/>
            <a:ext cx="3566160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2011680"/>
            <a:ext cx="0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2011680"/>
            <a:ext cx="3566160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457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CB1"/>
                </a:solidFill>
              </a:rPr>
              <a:t>User Request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1005840"/>
            <a:ext cx="0" cy="3657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65760" y="3840480"/>
            <a:ext cx="11430000" cy="256032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Design Principles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Router uses cheap/fast model (e.g. Haiku) — save expensive calls for specialists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7274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Intent classification should be a structured output with confidence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1149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Fallback to 'general' agent when confidence &lt; threshold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49554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Routing decision is logged for offline analysis and retraining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Pattern 2 — Parallel Fan-out / Fan-in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CB1"/>
                </a:solidFill>
              </a:rPr>
              <a:t>Run independent sub-tasks concurrently, aggregate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1188720"/>
            <a:ext cx="2286000" cy="64008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43200"/>
            <a:ext cx="2468880" cy="5943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Worker A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600200" y="1828800"/>
            <a:ext cx="4480560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00400" y="2743200"/>
            <a:ext cx="2468880" cy="5943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27432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Worker B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434840" y="1828800"/>
            <a:ext cx="1645920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35040" y="2743200"/>
            <a:ext cx="2468880" cy="5943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7432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Worker 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1828800"/>
            <a:ext cx="1188719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869680" y="2743200"/>
            <a:ext cx="2468880" cy="5943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27432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Worker 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1828800"/>
            <a:ext cx="4023359" cy="91440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937760" y="3749039"/>
            <a:ext cx="2286000" cy="64008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74903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3AED"/>
                </a:solidFill>
              </a:rPr>
              <a:t>Aggregator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00200" y="3337560"/>
            <a:ext cx="4480560" cy="41147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434840" y="3337560"/>
            <a:ext cx="1645920" cy="41147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080760" y="3337560"/>
            <a:ext cx="1188719" cy="41147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80760" y="3337560"/>
            <a:ext cx="4023359" cy="41147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5760" y="4526280"/>
            <a:ext cx="11430000" cy="196596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634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Use asyncio / thread pool — don't serialize parallel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4748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Aggregator does dedup, conflict resolution, and 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Set timeout per worker; partial results are still useful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15583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Workers are stateless — all context passed via input payload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Pattern 3 — Pipeline (Sequential Stages)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CB1"/>
                </a:solidFill>
              </a:rPr>
              <a:t>Each stage transforms output and passes it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103120" cy="100584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Ingest
&amp; Parse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331720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834640" y="1828800"/>
            <a:ext cx="210312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Enrich
&amp; Research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37760" y="2331720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212080" y="1828800"/>
            <a:ext cx="2103120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1965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Reason
&amp; Plan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0" y="2331720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589520" y="1828800"/>
            <a:ext cx="210312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1965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Execute
&amp; Act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92640" y="2331720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966960" y="1828800"/>
            <a:ext cx="2103120" cy="10058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1965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Validate
&amp;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63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PDF/HTML parse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015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Chunk &amp; 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7398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Schema 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63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Web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015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DB lookup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398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Knowledge 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063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Decompose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4015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Build plan tree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7398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Resource alloc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63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Call APIs/tools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4015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Write files/code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7398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Retry on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3063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Unit test / eval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4015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Human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73989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CB1"/>
                </a:solidFill>
              </a:rPr>
              <a:t>• Structured 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800600"/>
            <a:ext cx="11430000" cy="169164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892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Key principle: each stage has a defined input/output contract — test them independently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321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Add a 'circuit breaker' between stages — abort early rather than propagating bad data downstream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75157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Store intermediate artifacts — enable resumption without re-running expensive early stages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Pattern 4 — Supervisor / Hierarchical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B9CB1"/>
                </a:solidFill>
              </a:rPr>
              <a:t>A meta-agent monitors, validates, and re-tasks workers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0" y="1097280"/>
            <a:ext cx="4114800" cy="777240"/>
          </a:xfrm>
          <a:prstGeom prst="rect">
            <a:avLst/>
          </a:prstGeom>
          <a:solidFill>
            <a:srgbClr val="1A104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109728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7C3AED"/>
                </a:solidFill>
              </a:rPr>
              <a:t>Supervisor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43200"/>
            <a:ext cx="329184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</a:rPr>
              <a:t>Researcher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11680" y="1874519"/>
            <a:ext cx="4069080" cy="8686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011680" y="1874519"/>
            <a:ext cx="4069080" cy="15544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297680" y="2743200"/>
            <a:ext cx="329184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B981"/>
                </a:solidFill>
              </a:rPr>
              <a:t>Coder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943600" y="1874519"/>
            <a:ext cx="137160" cy="8686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943600" y="1874519"/>
            <a:ext cx="137160" cy="15544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2743200"/>
            <a:ext cx="329184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743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Reviewer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1874519"/>
            <a:ext cx="3794760" cy="8686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6080760" y="1874519"/>
            <a:ext cx="3794760" cy="1554481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3794760"/>
            <a:ext cx="11430000" cy="274320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587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Supervisor Responsibilities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5196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Evaluates each worker's output against a rubric before passing it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36008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Can re-task the same worker with corrective feedback (reflection loop)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0056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Maintains a shared state / working memory visible to all workers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04104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Enforces iteration budget — escalates to human if not converging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8815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▸  Can spawn additional workers dynamically based on task complexity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Reliability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Building agents that fail gracefully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Reliability 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</a:rPr>
              <a:t>Structured Output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Enforce JSON schema on every LLM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7393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Re-prompt up to N times on parse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665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Fallback to a simpler model if still failing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00584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11556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Self-Critique / Reflection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4813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After each major action, ask: 'Is this correct?'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7393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a separate evaluator prompt (not self-review)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665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Stop if reflection score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00584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1556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Human-in-the-Loop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4813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Define irreversible actions (delete, send, deploy)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7393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Pause and surface for human approval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665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Async approval queue for non-blocking 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42900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38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Iteration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044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Hard cap on tool calls per task (e.g. 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1970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Soft warning at 80% budget consumed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9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Return partial result rather than timing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342900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538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Idempotency &amp; Rollback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9044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Tag each action with a correlation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970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Write-ahead log before any side effect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489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Automated rollback on agent failure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429000"/>
            <a:ext cx="3749039" cy="2240280"/>
          </a:xfrm>
          <a:prstGeom prst="rect">
            <a:avLst/>
          </a:prstGeom>
          <a:solidFill>
            <a:srgbClr val="161D27"/>
          </a:solidFill>
          <a:ln w="19050">
            <a:solidFill>
              <a:srgbClr val="8B9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3538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9CB1"/>
                </a:solidFill>
              </a:rPr>
              <a:t>Prompt Injection Defense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9044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Sanitize tool output before inserting to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1970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Separate system / user / tool content clearly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489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Validate that instructions come from trusted 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You can't improve what you can't measure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Observability Stack for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64008" cy="6858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97863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Tracing  —  full span tree per agent run (OpenTelemetry / LangSmith / Langfuse)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11430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64008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6654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Evals    —  automated quality scoring: correctness, groundedness, tool 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11430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64008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3522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Metrics  —  latency p50/p95, token usage, tool call count, success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57600"/>
            <a:ext cx="11430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6400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0390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Logging  —  structured JSON logs: every prompt, every tool call, every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26280"/>
            <a:ext cx="11430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526280"/>
            <a:ext cx="64008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725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Alerts   —  anomaly detection on token spike, error rate, cost per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486400"/>
            <a:ext cx="11430000" cy="1143000"/>
          </a:xfrm>
          <a:prstGeom prst="rect">
            <a:avLst/>
          </a:prstGeom>
          <a:solidFill>
            <a:srgbClr val="161D27"/>
          </a:solidFill>
          <a:ln w="19050">
            <a:solidFill>
              <a:srgbClr val="8B9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595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Golden Rule: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59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Every agent decision must be reproducible from logs alone — no black-box failures allowed.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618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CB1"/>
                </a:solidFill>
              </a:rPr>
              <a:t>Store: full conversation history · tool schemas used · model version · temperature · seed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1A2535"/>
                </a:solidFill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Design Walk-through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B9CB1"/>
                </a:solidFill>
              </a:rPr>
              <a:t>End-to-end: AI-powered code review system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Case Study: Multi-Agent Code Review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286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8B9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 / Diff Input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344168"/>
            <a:ext cx="365760" cy="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017520" y="1005840"/>
            <a:ext cx="228600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005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C8FF"/>
                </a:solidFill>
              </a:rPr>
              <a:t>Router Agent
(Haiku)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2468880" cy="777240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F4444"/>
                </a:solidFill>
              </a:rPr>
              <a:t>Security
Analyst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600200" y="1691640"/>
            <a:ext cx="2560320" cy="5943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00400" y="2286000"/>
            <a:ext cx="2468880" cy="77724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860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</a:rPr>
              <a:t>Code Quality
Agent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60520" y="1691640"/>
            <a:ext cx="274320" cy="5943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035040" y="2286000"/>
            <a:ext cx="2468880" cy="777240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2860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</a:rPr>
              <a:t>Test Coverage
Agent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60520" y="1691640"/>
            <a:ext cx="3108959" cy="5943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869680" y="2286000"/>
            <a:ext cx="2468880" cy="777240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2860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</a:rPr>
              <a:t>Doc Check
Agent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60520" y="1691640"/>
            <a:ext cx="5943599" cy="5943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3063240"/>
            <a:ext cx="3429000" cy="68579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434840" y="3063240"/>
            <a:ext cx="960120" cy="68579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5760720" y="3063240"/>
            <a:ext cx="1508760" cy="68579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126480" y="3063240"/>
            <a:ext cx="3977640" cy="685799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114800" y="3749039"/>
            <a:ext cx="3931920" cy="777240"/>
          </a:xfrm>
          <a:prstGeom prst="rect">
            <a:avLst/>
          </a:prstGeom>
          <a:solidFill>
            <a:srgbClr val="1A104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749039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3AED"/>
                </a:solidFill>
              </a:rPr>
              <a:t>Supervisor Agent  (Sonnet)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4526280"/>
            <a:ext cx="0" cy="365760"/>
          </a:xfrm>
          <a:prstGeom prst="line">
            <a:avLst/>
          </a:prstGeom>
          <a:ln w="19050">
            <a:solidFill>
              <a:srgbClr val="8B9C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114800" y="4892040"/>
            <a:ext cx="3931920" cy="685800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489204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</a:rPr>
              <a:t>Final Review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9CB1"/>
                </a:solidFill>
              </a:rPr>
              <a:t>Parallel execution
~3× faster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7490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9CB1"/>
                </a:solidFill>
              </a:rPr>
              <a:t>Human gate for
critical issues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96112"/>
            <a:ext cx="2743200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" y="1161288"/>
            <a:ext cx="566928" cy="566928"/>
          </a:xfrm>
          <a:prstGeom prst="ellipse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4300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34439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Start with the simplest architecture that works — add multi-agent complexity only when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84248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209397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07568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67128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Define clear contracts (input/output schemas) at every boundary — agents, tools, and stages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16936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8" y="3026664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008376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099816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Reliability is architecture, not afterthought — budget, retry, validate, and rollback by design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9624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488" y="395935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941063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032504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Observability is non-negotiable — trace every decision, eval every output, alert on anomalies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82312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5488" y="4892040"/>
            <a:ext cx="566928" cy="5669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87375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96519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Use the right model for the right job — cheap/fast for routing; powerful for complex reasoning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715000"/>
            <a:ext cx="11430000" cy="804672"/>
          </a:xfrm>
          <a:prstGeom prst="rect">
            <a:avLst/>
          </a:prstGeom>
          <a:solidFill>
            <a:srgbClr val="161D27"/>
          </a:solidFill>
          <a:ln w="19050">
            <a:solidFill>
              <a:srgbClr val="8B9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5488" y="5824728"/>
            <a:ext cx="566928" cy="566928"/>
          </a:xfrm>
          <a:prstGeom prst="ellipse">
            <a:avLst/>
          </a:prstGeom>
          <a:solidFill>
            <a:srgbClr val="8B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8064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89788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Think in patterns — Router, Parallel, Pipeline, Supervisor cover 90% of production use cases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88952" cy="54864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C8FF"/>
                </a:solidFill>
              </a:rPr>
              <a:t>Let's build better agents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B9CB1"/>
                </a:solidFill>
              </a:rPr>
              <a:t>Further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38912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CB1"/>
                </a:solidFill>
              </a:rPr>
              <a:t>→  Anthropic Agent SDK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7731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CB1"/>
                </a:solidFill>
              </a:rPr>
              <a:t>→  LangGraph — stateful multi-agent graphs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15721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CB1"/>
                </a:solidFill>
              </a:rPr>
              <a:t>→  Langfuse / LangSmith — 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541264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CB1"/>
                </a:solidFill>
              </a:rPr>
              <a:t>→  Evals: RAGAS, PromptFoo, DeepEval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