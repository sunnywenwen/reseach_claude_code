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84048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</a:rPr>
              <a:t>Claude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6596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BBD6F8"/>
                </a:solidFill>
              </a:rPr>
              <a:t>Why It's Strong &amp; How It Works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3858768"/>
            <a:ext cx="12188952" cy="54864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2519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A222E"/>
                </a:solidFill>
              </a:rPr>
              <a:t>Hsiang-Wen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7316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657A"/>
                </a:solidFill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222E"/>
                </a:solidFill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15568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15568"/>
            <a:ext cx="11274552" cy="54864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225295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Part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19072" y="1225295"/>
            <a:ext cx="9875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Why Claude Code 特別強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82495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773936"/>
            <a:ext cx="685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D6FC8"/>
                </a:solidFill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44752" y="1773936"/>
            <a:ext cx="10149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4 個核心原因：Agentic Loop、Context Management、Strong Tools、Strong Model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212848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304288"/>
            <a:ext cx="685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D6FC8"/>
                </a:solidFill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44752" y="2304288"/>
            <a:ext cx="10149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案例帶入：折扣碼重複使用的 Bug 修復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74320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2743200"/>
            <a:ext cx="11274552" cy="548640"/>
          </a:xfrm>
          <a:prstGeom prst="rect">
            <a:avLst/>
          </a:prstGeom>
          <a:solidFill>
            <a:srgbClr val="057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85292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Part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19072" y="2852928"/>
            <a:ext cx="9875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How It Works  機制深入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310128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401568"/>
            <a:ext cx="685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57A50"/>
                </a:solidFill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44752" y="3401568"/>
            <a:ext cx="10149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Agent Architecture — ReAct Loop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84048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3931920"/>
            <a:ext cx="685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57A50"/>
                </a:solidFill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44752" y="3931920"/>
            <a:ext cx="10149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工具總覽 — 依功能分類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370832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4462272"/>
            <a:ext cx="685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57A50"/>
                </a:solidFill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44752" y="4462272"/>
            <a:ext cx="10149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工具深入：Read / Grep / Glob、Edit / Write、Bash、ToolSearch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901184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4992624"/>
            <a:ext cx="685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57A50"/>
                </a:solidFill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44752" y="4992624"/>
            <a:ext cx="10149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工具深入：Agent、Skill、Task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431536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5522976"/>
            <a:ext cx="685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57A50"/>
                </a:solidFill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44752" y="5522976"/>
            <a:ext cx="10149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系統機制：Hooks、Permission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961888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6053328"/>
            <a:ext cx="685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57A50"/>
                </a:solidFill>
              </a:rPr>
              <a:t>08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44752" y="6053328"/>
            <a:ext cx="10149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資訊來源 — 機制驗證方法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649224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7200" y="6492240"/>
            <a:ext cx="11274552" cy="548640"/>
          </a:xfrm>
          <a:prstGeom prst="rect">
            <a:avLst/>
          </a:prstGeom>
          <a:solidFill>
            <a:srgbClr val="B4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4360" y="660196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Part 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719072" y="6601968"/>
            <a:ext cx="9875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Take Away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7059168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7150608"/>
            <a:ext cx="685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45A00"/>
                </a:solidFill>
              </a:rPr>
              <a:t>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44752" y="7150608"/>
            <a:ext cx="10149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Takeaways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1A222E"/>
                </a:solidFill>
              </a:rPr>
              <a:t>Claude Code 為何特別強？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61872"/>
            <a:ext cx="10515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55657A"/>
                </a:solidFill>
              </a:rPr>
              <a:t>不是單點能力，而是完整的 Agentic Coding System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755648"/>
            <a:ext cx="1100023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874519"/>
            <a:ext cx="5394960" cy="20116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39112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D6FC8"/>
                </a:solidFill>
              </a:rPr>
              <a:t>01  Agentic Loop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32887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工作方式是循環式：理解 → 行動 → 驗證，能持續根據結果修正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874519"/>
            <a:ext cx="5394960" cy="20116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2039112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57A50"/>
                </a:solidFill>
              </a:rPr>
              <a:t>02  Context Management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532887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長任務過程中主動維持 context 品質，避免雜訊讓模型失焦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4069080"/>
            <a:ext cx="5394960" cy="20116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233672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45A00"/>
                </a:solidFill>
              </a:rPr>
              <a:t>03  Strong Tools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727448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真正能搜尋、讀檔、改檔、執行驗證，不只是給建議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4069080"/>
            <a:ext cx="5394960" cy="20116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9400" y="4233672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5B21B6"/>
                </a:solidFill>
              </a:rPr>
              <a:t>04  Strong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4727448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理解需求、規劃步驟、選對工具、解讀結果，並依任務分配最適模型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D6FC8"/>
                </a:solidFill>
              </a:rPr>
              <a:t>Reason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69848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1A222E"/>
                </a:solidFill>
              </a:rPr>
              <a:t>強 Agentic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17320"/>
            <a:ext cx="10515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55657A"/>
                </a:solidFill>
              </a:rPr>
              <a:t>不是 Autocomplete，而是 Iterative Problem Solver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920240"/>
            <a:ext cx="1100023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2103120"/>
            <a:ext cx="110642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A222E"/>
                </a:solidFill>
              </a:rPr>
              <a:t>• 工作方式是循環式：Gather Context → Take Action → Verify Results，不是一次性輸出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944368"/>
            <a:ext cx="110642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A222E"/>
                </a:solidFill>
              </a:rPr>
              <a:t>• 更接近真實工程流程：真實寫 code 不是一次寫對，而是先理解、再改動、再驗證、再修正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785615"/>
            <a:ext cx="110642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A222E"/>
                </a:solidFill>
              </a:rPr>
              <a:t>• 能持續根據結果修正方向：test failure、build error 都是下一輪推理的輸入，不是終點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57A50"/>
                </a:solidFill>
              </a:rPr>
              <a:t>Reason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69848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1A222E"/>
                </a:solidFill>
              </a:rPr>
              <a:t>強 Context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17320"/>
            <a:ext cx="10515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55657A"/>
                </a:solidFill>
              </a:rPr>
              <a:t>Loop 變長後，品質還能撐住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920240"/>
            <a:ext cx="1100023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2103120"/>
            <a:ext cx="110642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A222E"/>
                </a:solidFill>
              </a:rPr>
              <a:t>• 長任務的瓶頸常常不是模型智力，而是 context 汙染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944368"/>
            <a:ext cx="110642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A222E"/>
                </a:solidFill>
              </a:rPr>
              <a:t>• 任務一長，就會累積大量雜訊（舊方案、失敗嘗試、大量 log），容易讓模型失焦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785615"/>
            <a:ext cx="110642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A222E"/>
                </a:solidFill>
              </a:rPr>
              <a:t>• 探索、規劃、實作可以分開處理，避免主上下文被過多細節塞滿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45A00"/>
                </a:solidFill>
              </a:rPr>
              <a:t>Reason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69848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1A222E"/>
                </a:solidFill>
              </a:rPr>
              <a:t>強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17320"/>
            <a:ext cx="10515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55657A"/>
                </a:solidFill>
              </a:rPr>
              <a:t>讓 Loop 每一步真正落地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920240"/>
            <a:ext cx="1100023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2103120"/>
            <a:ext cx="110642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A222E"/>
                </a:solidFill>
              </a:rPr>
              <a:t>• Claude Code 不是只回答，而是真的能動手做：搜尋 codebase、編輯檔案、執行命令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944368"/>
            <a:ext cx="110642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A222E"/>
                </a:solidFill>
              </a:rPr>
              <a:t>• Tools 讓 reasoning 變成 action：沒有工具，loop 只能停在分析，無法實際執行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785615"/>
            <a:ext cx="110642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A222E"/>
                </a:solidFill>
              </a:rPr>
              <a:t>• Verify 之所以有價值，是因為真的能執行測試、lint、build，再根據結果修正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B21B6"/>
                </a:solidFill>
              </a:rPr>
              <a:t>Reason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69848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1A222E"/>
                </a:solidFill>
              </a:rPr>
              <a:t>強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17320"/>
            <a:ext cx="10515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55657A"/>
                </a:solidFill>
              </a:rPr>
              <a:t>決定整個系統的推理上限與工具使用精度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920240"/>
            <a:ext cx="1100023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2103120"/>
            <a:ext cx="110642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A222E"/>
                </a:solidFill>
              </a:rPr>
              <a:t>• 前面有 loop、context management、tools，最後仍要靠 model 理解需求、規劃步驟、選對工具、解讀結果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944368"/>
            <a:ext cx="110642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A222E"/>
                </a:solidFill>
              </a:rPr>
              <a:t>• Tool calling 能力屬於 benchmark 領先群組（如 Berkeley Function Calling Leaderboard）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785615"/>
            <a:ext cx="110642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A222E"/>
                </a:solidFill>
              </a:rPr>
              <a:t>• 依任務複雜度自動分配不同 model：探索任務用輕量模型（快 / 省成本），主推理用更強的模型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148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1A222E"/>
                </a:solidFill>
              </a:rPr>
              <a:t>案例實際帶入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170432"/>
            <a:ext cx="10515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1">
                <a:solidFill>
                  <a:srgbClr val="55657A"/>
                </a:solidFill>
              </a:rPr>
              <a:t>折扣碼只能用一次，但用戶發現可以重複使用 — 四個 Reason 如何共同作用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664208"/>
            <a:ext cx="1100023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783080"/>
            <a:ext cx="11000232" cy="11704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2130552"/>
            <a:ext cx="502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B45A00"/>
                </a:solidFill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9888" y="1874519"/>
            <a:ext cx="78455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222E"/>
                </a:solidFill>
              </a:rPr>
              <a:t>grep 找到所有用到折扣碼的地方 → 讀各個驗證邏輯 → 確認哪裡沒有檢查是否已使用過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350008"/>
            <a:ext cx="7845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5657A"/>
                </a:solidFill>
              </a:rPr>
              <a:t>→ 沒有工具只能靠猜；有工具才能找出所有相關程式碼，不會有漏網之魚</a:t>
            </a:r>
          </a:p>
        </p:txBody>
      </p:sp>
      <p:sp>
        <p:nvSpPr>
          <p:cNvPr id="9" name="Rectangle 8"/>
          <p:cNvSpPr/>
          <p:nvPr/>
        </p:nvSpPr>
        <p:spPr>
          <a:xfrm>
            <a:off x="9372600" y="2139696"/>
            <a:ext cx="2084831" cy="457200"/>
          </a:xfrm>
          <a:prstGeom prst="rect">
            <a:avLst/>
          </a:prstGeom>
          <a:solidFill>
            <a:srgbClr val="B4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90888" y="2148840"/>
            <a:ext cx="204825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Tools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3017520"/>
            <a:ext cx="11000232" cy="11704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3364991"/>
            <a:ext cx="502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D6FC8"/>
                </a:solidFill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3108960"/>
            <a:ext cx="78455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222E"/>
                </a:solidFill>
              </a:rPr>
              <a:t>Round 1：修結帳 API 的驗證 → 還是能重複用　Round 2：修訂單建立的驗證 → 還是有漏　Round 3：在資料庫層加限制 → 全過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89888" y="3584448"/>
            <a:ext cx="7845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5657A"/>
                </a:solidFill>
              </a:rPr>
              <a:t>→ 每次測試失敗都是下一輪的輸入；autocomplete 給完第一個修法就停了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72600" y="3374136"/>
            <a:ext cx="2084831" cy="45720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90888" y="3383279"/>
            <a:ext cx="204825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Agentic Loop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4251960"/>
            <a:ext cx="11000232" cy="11704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4599432"/>
            <a:ext cx="502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57A50"/>
                </a:solidFill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4343400"/>
            <a:ext cx="78455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222E"/>
                </a:solidFill>
              </a:rPr>
              <a:t>同時追蹤結帳 API、訂單建立、折扣碼查詢邏輯，以及哪些地方已修、哪些待修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4818888"/>
            <a:ext cx="7845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5657A"/>
                </a:solidFill>
              </a:rPr>
              <a:t>→ 多個地方同時進行，沒有管理容易遺漏，或把已修好的改回去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72600" y="4608576"/>
            <a:ext cx="2084831" cy="457200"/>
          </a:xfrm>
          <a:prstGeom prst="rect">
            <a:avLst/>
          </a:prstGeom>
          <a:solidFill>
            <a:srgbClr val="057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90888" y="4617720"/>
            <a:ext cx="204825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Context Mgmt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" y="5486400"/>
            <a:ext cx="11000232" cy="11704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833872"/>
            <a:ext cx="502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5B21B6"/>
                </a:solidFill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577840"/>
            <a:ext cx="784555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222E"/>
                </a:solidFill>
              </a:rPr>
              <a:t>判斷要在哪一層加驗證才能真正防住：API 層？service 層？還是資料庫層？推理出最根本的解法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89888" y="6053328"/>
            <a:ext cx="7845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5657A"/>
                </a:solidFill>
              </a:rPr>
              <a:t>→ 前面三步能 work，都建立在 model 每一步判斷正確：找對位置、選對修法、知道何時繼續迭代。任何一步推理錯，整個流程就跑偏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372600" y="5843016"/>
            <a:ext cx="2084831" cy="45720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90888" y="5852160"/>
            <a:ext cx="2048256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Model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6916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55657A"/>
                </a:solidFill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1" i="0">
                <a:solidFill>
                  <a:srgbClr val="1A222E"/>
                </a:solidFill>
              </a:rPr>
              <a:t>機制深入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3456432"/>
            <a:ext cx="1063447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3584448"/>
            <a:ext cx="10058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>
                <a:solidFill>
                  <a:srgbClr val="55657A"/>
                </a:solidFill>
              </a:rPr>
              <a:t>前面看了 Why — 現在來看 How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133087"/>
            <a:ext cx="100584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A222E"/>
                </a:solidFill>
              </a:rPr>
              <a:t>Agentic Loop 的每一步，底層都是一個 Tool Call 的循環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222E"/>
                </a:solidFill>
              </a:rPr>
              <a:t>03  Agent Architecture — ReAct Loop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664208" cy="62179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207008"/>
            <a:ext cx="166420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55657A"/>
                </a:solidFill>
              </a:rPr>
              <a:t>使用者輸入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30552" y="1316736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55657A"/>
                </a:solidFill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240280" y="1207008"/>
            <a:ext cx="1664208" cy="62179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40280" y="1207008"/>
            <a:ext cx="166420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D6FC8"/>
                </a:solidFill>
              </a:rPr>
              <a:t>LLM 推理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13632" y="1316736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55657A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1207008"/>
            <a:ext cx="1664208" cy="62179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23360" y="1207008"/>
            <a:ext cx="166420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57A50"/>
                </a:solidFill>
              </a:rPr>
              <a:t>Tool Call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96712" y="1316736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55657A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06440" y="1207008"/>
            <a:ext cx="1664208" cy="62179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06440" y="1207008"/>
            <a:ext cx="166420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B45A00"/>
                </a:solidFill>
              </a:rPr>
              <a:t>Tool Result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79792" y="1316736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55657A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9520" y="1207008"/>
            <a:ext cx="1664208" cy="62179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20" y="1207008"/>
            <a:ext cx="166420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D6FC8"/>
                </a:solidFill>
              </a:rPr>
              <a:t>LLM 推理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62872" y="1316736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55657A"/>
                </a:solidFill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372600" y="1207008"/>
            <a:ext cx="1664208" cy="62179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72600" y="1207008"/>
            <a:ext cx="166420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55657A"/>
                </a:solidFill>
              </a:rPr>
              <a:t>…直到完成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01168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2103120"/>
            <a:ext cx="5486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6FC8"/>
                </a:solidFill>
              </a:rPr>
              <a:t>重要特性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245059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222E"/>
                </a:solidFill>
              </a:rPr>
              <a:t>• 單次 LLM 推理可在同一個 content 陣列中同時產生 text + 多個 tool_use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290779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222E"/>
                </a:solidFill>
              </a:rPr>
              <a:t>• 多個 tool_use 批次發出 → 平行執行 → 所有結果一起回來 → 才進行下一次推理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336499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222E"/>
                </a:solidFill>
              </a:rPr>
              <a:t>• Loop 終止條件：LLM 推理產生的回應不含任何 tool_use，控制權回到使用者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3822191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222E"/>
                </a:solidFill>
              </a:rPr>
              <a:t>• Background Bash（run_in_background）不阻塞推理，結果以非同步通知送達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427939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222E"/>
                </a:solidFill>
              </a:rPr>
              <a:t>• Subagent 有自己獨立的 agentic loop，不佔主 agent 的推理次數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55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A222E"/>
                </a:solidFill>
              </a:rPr>
              <a:t>04  工具總覽 (1/2) — 核心工具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657A"/>
                </a:solidFill>
              </a:rPr>
              <a:t>★ = auto-allow，預設直接執行不詢問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50976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15568"/>
            <a:ext cx="11274552" cy="301752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70432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唯讀探索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35607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499616"/>
            <a:ext cx="1965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6FC8"/>
                </a:solidFill>
              </a:rPr>
              <a:t>Read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1499616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6FC8"/>
                </a:solidFill>
              </a:rPr>
              <a:t>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53512" y="1499616"/>
            <a:ext cx="888796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讀取本地檔案；支援圖片、PDF、ipynb；25k token 上限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856231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920239"/>
            <a:ext cx="1965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6FC8"/>
                </a:solidFill>
              </a:rPr>
              <a:t>Glob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1920239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6FC8"/>
                </a:solidFill>
              </a:rPr>
              <a:t>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53512" y="1920239"/>
            <a:ext cx="888796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用 glob pattern 搜尋符合條件的檔案路徑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276856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340863"/>
            <a:ext cx="1965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6FC8"/>
                </a:solidFill>
              </a:rPr>
              <a:t>Grep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14600" y="2340863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6FC8"/>
                </a:solidFill>
              </a:rPr>
              <a:t>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53512" y="2340863"/>
            <a:ext cx="888796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直接 spawn ripgrep 搜尋檔案內容（bypass shell，無注入風險）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97479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2761487"/>
            <a:ext cx="1965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6FC8"/>
                </a:solidFill>
              </a:rPr>
              <a:t>WebFetch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14600" y="2761487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6FC8"/>
                </a:solidFill>
              </a:rPr>
              <a:t>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53512" y="2761487"/>
            <a:ext cx="888796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抓取 URL 網頁內容，HTML 自動轉 markdown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118103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182111"/>
            <a:ext cx="1965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6FC8"/>
                </a:solidFill>
              </a:rPr>
              <a:t>WebSearch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14600" y="3182111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6FC8"/>
                </a:solidFill>
              </a:rPr>
              <a:t>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53512" y="3182111"/>
            <a:ext cx="888796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搜尋網路，取得 training data 以外的最新資訊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538727"/>
            <a:ext cx="11274552" cy="301752"/>
          </a:xfrm>
          <a:prstGeom prst="rect">
            <a:avLst/>
          </a:prstGeom>
          <a:solidFill>
            <a:srgbClr val="057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3593591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寫入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858768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3922776"/>
            <a:ext cx="1965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57A50"/>
                </a:solidFill>
              </a:rPr>
              <a:t>Edit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14600" y="3922776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6FC8"/>
                </a:solidFill>
              </a:rPr>
              <a:t>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53512" y="3922776"/>
            <a:ext cx="888796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精確 old→new 替換；old_string 必須唯一；只傳 diff，token 最少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279392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4343400"/>
            <a:ext cx="1965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57A50"/>
                </a:solidFill>
              </a:rPr>
              <a:t>Write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514600" y="4343400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6FC8"/>
                </a:solidFill>
              </a:rPr>
              <a:t>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53512" y="4343400"/>
            <a:ext cx="888796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覆寫整個檔案；適合新建或完整重寫；自動產生 diff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4700016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4764024"/>
            <a:ext cx="1965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57A50"/>
                </a:solidFill>
              </a:rPr>
              <a:t>NotebookEdit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14600" y="4764024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6FC8"/>
                </a:solidFill>
              </a:rPr>
              <a:t> 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53512" y="4764024"/>
            <a:ext cx="888796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編輯 .ipynb cell（必須用此；直接 Edit 會報錯）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5120640"/>
            <a:ext cx="11274552" cy="301752"/>
          </a:xfrm>
          <a:prstGeom prst="rect">
            <a:avLst/>
          </a:prstGeom>
          <a:solidFill>
            <a:srgbClr val="B4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5175503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執行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5440679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8640" y="5504688"/>
            <a:ext cx="1965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B45A00"/>
                </a:solidFill>
              </a:rPr>
              <a:t>Bash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514600" y="5504688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6FC8"/>
                </a:solidFill>
              </a:rPr>
              <a:t> 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53512" y="5504688"/>
            <a:ext cx="888796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執行任意 shell 命令；支援 run_in_background；需注意 shell injection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5861303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222E"/>
                </a:solidFill>
              </a:rPr>
              <a:t>04  工具總覽 (2/2) — 系統與擴充工具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15568"/>
            <a:ext cx="11274552" cy="301752"/>
          </a:xfrm>
          <a:prstGeom prst="rect">
            <a:avLst/>
          </a:prstGeom>
          <a:solidFill>
            <a:srgbClr val="556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70432"/>
            <a:ext cx="3657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Meta / 系統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35607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9047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5657A"/>
                </a:solidFill>
              </a:rPr>
              <a:t>ToolSearch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13631" y="1490472"/>
            <a:ext cx="79735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將 deferred 工具 schema 載入 context，才能呼叫它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19655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874519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5657A"/>
                </a:solidFill>
              </a:rPr>
              <a:t>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13631" y="1874519"/>
            <a:ext cx="79735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啟動有獨立 context 的 subagent（可用不同 model）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203703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258568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5657A"/>
                </a:solidFill>
              </a:rPr>
              <a:t>Skill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13631" y="2258568"/>
            <a:ext cx="79735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呼叫 .claude/skills/ 中定義的自訂指令集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587751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642615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5657A"/>
                </a:solidFill>
              </a:rPr>
              <a:t>AskUserQuestion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13631" y="2642615"/>
            <a:ext cx="79735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主動向使用者提問（唯一能讓 Claude 暫停等待輸入的工具）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971799"/>
            <a:ext cx="11274552" cy="301752"/>
          </a:xfrm>
          <a:prstGeom prst="rect">
            <a:avLst/>
          </a:prstGeom>
          <a:solidFill>
            <a:srgbClr val="AA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026663"/>
            <a:ext cx="3657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任務管理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291839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3346703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A1818"/>
                </a:solidFill>
              </a:rPr>
              <a:t>TaskCreate / TaskUpdate / TaskStop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13631" y="3346703"/>
            <a:ext cx="79735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建立、更新、停止任務；TaskStop 只能停背景 Bash 任務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675887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730751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A1818"/>
                </a:solidFill>
              </a:rPr>
              <a:t>TaskGet / TaskList / TaskOutput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13631" y="3730751"/>
            <a:ext cx="79735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查詢任務狀態與輸出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059935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4114799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A1818"/>
                </a:solidFill>
              </a:rPr>
              <a:t>CronCreate / CronDelete / CronList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13631" y="4114799"/>
            <a:ext cx="79735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建立 session-only 定時排程（Claude 退出後消失）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443983"/>
            <a:ext cx="11274552" cy="3017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4498847"/>
            <a:ext cx="3657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規劃 / 隔離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764023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4818887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B21B6"/>
                </a:solidFill>
              </a:rPr>
              <a:t>EnterPlanMode / ExitPlanMode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913631" y="4818887"/>
            <a:ext cx="79735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進入規劃模式；計畫存至 ~/.claude/plans/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5148071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5202935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B21B6"/>
                </a:solidFill>
              </a:rPr>
              <a:t>EnterWorktree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13631" y="5202935"/>
            <a:ext cx="79735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在 .claude/worktrees/ 建立隔離的 git worktree 環境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5532119"/>
            <a:ext cx="11274552" cy="301752"/>
          </a:xfrm>
          <a:prstGeom prst="rect">
            <a:avLst/>
          </a:prstGeom>
          <a:solidFill>
            <a:srgbClr val="0E7A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5586983"/>
            <a:ext cx="3657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IDE (MCP)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5852159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5907023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7A8E"/>
                </a:solidFill>
              </a:rPr>
              <a:t>mcp__ide__getDiagnostics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13631" y="5907023"/>
            <a:ext cx="79735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取得 IDE lint / type 錯誤診斷（VS Code / JetBrains）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6236207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6291071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7A8E"/>
                </a:solidFill>
              </a:rPr>
              <a:t>mcp__ide__executeCode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913631" y="6291071"/>
            <a:ext cx="79735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在 IDE 環境執行程式碼片段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6620255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55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A222E"/>
                </a:solidFill>
              </a:rPr>
              <a:t>05  工具深入 — Read / Grep / Glob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657A"/>
                </a:solidFill>
              </a:rPr>
              <a:t>同樣 auto-allow 且唯讀，但設計定位不同，不要用 Bash 代替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50976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70432"/>
            <a:ext cx="11274552" cy="3840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97864"/>
            <a:ext cx="22677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55657A"/>
                </a:solidFill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1197864"/>
            <a:ext cx="30906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D6FC8"/>
                </a:solidFill>
              </a:rPr>
              <a:t>Read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1197864"/>
            <a:ext cx="30906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57A50"/>
                </a:solidFill>
              </a:rPr>
              <a:t>Grep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89719" y="1197864"/>
            <a:ext cx="2971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45A00"/>
                </a:solidFill>
              </a:rPr>
              <a:t>Glob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581912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655064"/>
            <a:ext cx="213055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5657A"/>
                </a:solidFill>
              </a:rPr>
              <a:t>用途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360" y="1655064"/>
            <a:ext cx="29535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D6FC8"/>
                </a:solidFill>
              </a:rPr>
              <a:t>讀取檔案完整內容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1655064"/>
            <a:ext cx="29535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57A50"/>
                </a:solidFill>
              </a:rPr>
              <a:t>搜尋哪些位置含特定字串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89719" y="1655064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45A00"/>
                </a:solidFill>
              </a:rPr>
              <a:t>搜尋哪些路徑符合條件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075688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148840"/>
            <a:ext cx="213055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5657A"/>
                </a:solidFill>
              </a:rPr>
              <a:t>輸入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2148840"/>
            <a:ext cx="29535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D6FC8"/>
                </a:solidFill>
              </a:rPr>
              <a:t>檔案路徑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2148840"/>
            <a:ext cx="29535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57A50"/>
                </a:solidFill>
              </a:rPr>
              <a:t>regex pattern + 目錄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9719" y="2148840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45A00"/>
                </a:solidFill>
              </a:rPr>
              <a:t>glob pattern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569464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642616"/>
            <a:ext cx="213055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5657A"/>
                </a:solidFill>
              </a:rPr>
              <a:t>特殊能力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0360" y="2642616"/>
            <a:ext cx="29535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D6FC8"/>
                </a:solidFill>
              </a:rPr>
              <a:t>圖片/PDF/ipynb 特殊解析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0" y="2642616"/>
            <a:ext cx="29535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57A50"/>
                </a:solidFill>
              </a:rPr>
              <a:t>直接 spawn ripgrep，不走 shell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9719" y="2642616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45A00"/>
                </a:solidFill>
              </a:rPr>
              <a:t>結果依修改時間排序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06324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3136392"/>
            <a:ext cx="213055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5657A"/>
                </a:solidFill>
              </a:rPr>
              <a:t>token 限制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80360" y="3136392"/>
            <a:ext cx="29535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D6FC8"/>
                </a:solidFill>
              </a:rPr>
              <a:t>25,000 tokens 硬上限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35040" y="3136392"/>
            <a:ext cx="29535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57A50"/>
                </a:solidFill>
              </a:rPr>
              <a:t>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9719" y="3136392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45A00"/>
                </a:solidFill>
              </a:rPr>
              <a:t>無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3557016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630168"/>
            <a:ext cx="213055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5657A"/>
                </a:solidFill>
              </a:rPr>
              <a:t>典型用法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80360" y="3630168"/>
            <a:ext cx="29535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D6FC8"/>
                </a:solidFill>
              </a:rPr>
              <a:t>看已知檔案的內容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35040" y="3630168"/>
            <a:ext cx="29535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57A50"/>
                </a:solidFill>
              </a:rPr>
              <a:t>找出哪個檔案含這段邏輯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89719" y="3630168"/>
            <a:ext cx="2834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45A00"/>
                </a:solidFill>
              </a:rPr>
              <a:t>找出有哪些 .ts 檔案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4050791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4178807"/>
            <a:ext cx="5486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6FC8"/>
                </a:solidFill>
              </a:rPr>
              <a:t>實際使用順序範例 — 三種工具如何接力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4489704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5657A"/>
                </a:solidFill>
              </a:rPr>
              <a:t>情境：找出折扣碼驗證邏輯在哪裡，再完整閱讀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4800600"/>
            <a:ext cx="11155680" cy="126187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7512" y="4892040"/>
            <a:ext cx="10789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22E"/>
                </a:solidFill>
              </a:rPr>
              <a:t>① Glob("**/*.ts")  →  列出所有 TypeScript 檔案路徑清單，確認搜尋範圍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7512" y="5148072"/>
            <a:ext cx="10789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22E"/>
                </a:solidFill>
              </a:rPr>
              <a:t>② Grep("validateDiscount", "**/*.ts")  →  找出含該函式的檔案（例：discount.service.ts）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7512" y="5404104"/>
            <a:ext cx="10789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22E"/>
                </a:solidFill>
              </a:rPr>
              <a:t>③ Read("src/services/discount.service.ts")  →  讀取完整內容，理解驗證邏輯細節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6135623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657A"/>
                </a:solidFill>
              </a:rPr>
              <a:t>設計目的：三種工具皆 auto-allow（無確認中斷），從路徑定位到內容閱讀一氣呵成，比 Bash 更安全、更省確認次數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222E"/>
                </a:solidFill>
              </a:rPr>
              <a:t>05  工具深入 — Edit vs Write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70432"/>
            <a:ext cx="11274552" cy="3840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97864"/>
            <a:ext cx="27249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55657A"/>
                </a:solidFill>
              </a:rPr>
              <a:t>面向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37560" y="1197864"/>
            <a:ext cx="40965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57A50"/>
                </a:solidFill>
              </a:rPr>
              <a:t>Edit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197864"/>
            <a:ext cx="44074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D6FC8"/>
                </a:solidFill>
              </a:rPr>
              <a:t>Write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581912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655064"/>
            <a:ext cx="258775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5657A"/>
                </a:solidFill>
              </a:rPr>
              <a:t>操作方式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655064"/>
            <a:ext cx="395935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57A50"/>
                </a:solidFill>
              </a:rPr>
              <a:t>精確字串替換（old_string → new_string）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1655064"/>
            <a:ext cx="427024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D6FC8"/>
                </a:solidFill>
              </a:rPr>
              <a:t>覆寫整個檔案內容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05740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130552"/>
            <a:ext cx="258775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5657A"/>
                </a:solidFill>
              </a:rPr>
              <a:t>適用情境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37560" y="2130552"/>
            <a:ext cx="395935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57A50"/>
                </a:solidFill>
              </a:rPr>
              <a:t>修改現有檔案的一部分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2130552"/>
            <a:ext cx="427024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D6FC8"/>
                </a:solidFill>
              </a:rPr>
              <a:t>新建檔案、或整個檔案都要換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532888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2606040"/>
            <a:ext cx="258775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5657A"/>
                </a:solidFill>
              </a:rPr>
              <a:t>唯一性限制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37560" y="2606040"/>
            <a:ext cx="395935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57A50"/>
                </a:solidFill>
              </a:rPr>
              <a:t>old_string 必須在檔案中唯一，否則報錯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2606040"/>
            <a:ext cx="427024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D6FC8"/>
                </a:solidFill>
              </a:rPr>
              <a:t>無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008376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3081528"/>
            <a:ext cx="258775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5657A"/>
                </a:solidFill>
              </a:rPr>
              <a:t>token 消耗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37560" y="3081528"/>
            <a:ext cx="395935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57A50"/>
                </a:solidFill>
              </a:rPr>
              <a:t>只傳 diff（少）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3081528"/>
            <a:ext cx="427024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D6FC8"/>
                </a:solidFill>
              </a:rPr>
              <a:t>傳送整個檔案（多）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483864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3557016"/>
            <a:ext cx="258775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5657A"/>
                </a:solidFill>
              </a:rPr>
              <a:t>diff 顯示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3557016"/>
            <a:ext cx="395935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57A50"/>
                </a:solidFill>
              </a:rPr>
              <a:t>自動計算 structuredPatch + gitDiff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3557016"/>
            <a:ext cx="427024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D6FC8"/>
                </a:solidFill>
              </a:rPr>
              <a:t>同左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959352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4032504"/>
            <a:ext cx="258775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5657A"/>
                </a:solidFill>
              </a:rPr>
              <a:t>replace_all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37560" y="4032504"/>
            <a:ext cx="395935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57A50"/>
                </a:solidFill>
              </a:rPr>
              <a:t>支援：一次替換所有匹配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4032504"/>
            <a:ext cx="427024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D6FC8"/>
                </a:solidFill>
              </a:rPr>
              <a:t>不適用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443484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4562855"/>
            <a:ext cx="5486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6FC8"/>
                </a:solidFill>
              </a:rPr>
              <a:t>使用原則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4892040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日常修改首選 Edit（token 省、定位精準）；只有新建檔案或整個內容都要換時才用 Write。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55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A222E"/>
                </a:solidFill>
              </a:rPr>
              <a:t>05  工具深入 — Bash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657A"/>
                </a:solidFill>
              </a:rPr>
              <a:t>有專用工具時優先用專用工具；只有需要『執行』時才用 Bash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50976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24128"/>
            <a:ext cx="5486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6FC8"/>
                </a:solidFill>
              </a:rPr>
              <a:t>專用工具 VS BASH — 怎麼選？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53312"/>
            <a:ext cx="11274552" cy="32918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08176"/>
            <a:ext cx="23957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5657A"/>
                </a:solidFill>
              </a:rPr>
              <a:t>需要做的事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1408176"/>
            <a:ext cx="2852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7A50"/>
                </a:solidFill>
              </a:rPr>
              <a:t>用這個工具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08176"/>
            <a:ext cx="32186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5657A"/>
                </a:solidFill>
              </a:rPr>
              <a:t>為何不用 Bash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0" y="1408176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5657A"/>
                </a:solidFill>
              </a:rPr>
              <a:t>Auto-allow?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682495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682495"/>
            <a:ext cx="11274552" cy="402336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1755648"/>
            <a:ext cx="2395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搜尋哪個檔案含某字串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1755648"/>
            <a:ext cx="28529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57A50"/>
                </a:solidFill>
              </a:rPr>
              <a:t>Grep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1755648"/>
            <a:ext cx="32186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657A"/>
                </a:solidFill>
              </a:rPr>
              <a:t>直接 spawn ripgrep，更快且無 injection 風險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0" y="1755648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7A50"/>
                </a:solidFill>
              </a:rPr>
              <a:t>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084831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2084831"/>
            <a:ext cx="11274552" cy="402336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2157984"/>
            <a:ext cx="2395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找出哪些路徑符合條件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2157984"/>
            <a:ext cx="28529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57A50"/>
                </a:solidFill>
              </a:rPr>
              <a:t>Glob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2157984"/>
            <a:ext cx="32186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657A"/>
                </a:solidFill>
              </a:rPr>
              <a:t>結果依修改時間排序，且不走 shell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2157984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7A50"/>
                </a:solidFill>
              </a:rPr>
              <a:t>✓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487168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2487168"/>
            <a:ext cx="11274552" cy="402336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560320"/>
            <a:ext cx="2395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讀取檔案內容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17520" y="2560320"/>
            <a:ext cx="28529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57A50"/>
                </a:solidFill>
              </a:rPr>
              <a:t>Read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0" y="2560320"/>
            <a:ext cx="32186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657A"/>
                </a:solidFill>
              </a:rPr>
              <a:t>支援 PDF / 圖片 / ipynb，有 token 保護上限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2560320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7A50"/>
                </a:solidFill>
              </a:rPr>
              <a:t>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2889503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2889503"/>
            <a:ext cx="11274552" cy="402336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2962656"/>
            <a:ext cx="2395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修改檔案一部分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17520" y="2962656"/>
            <a:ext cx="28529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57A50"/>
                </a:solidFill>
              </a:rPr>
              <a:t>Edit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0" y="2962656"/>
            <a:ext cx="32186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657A"/>
                </a:solidFill>
              </a:rPr>
              <a:t>只傳 diff，token 省；old_string 定位精準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5440" y="2962656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A1818"/>
                </a:solidFill>
              </a:rPr>
              <a:t>✗（需確認）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3291839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" y="3291839"/>
            <a:ext cx="11274552" cy="402336"/>
          </a:xfrm>
          <a:prstGeom prst="rect">
            <a:avLst/>
          </a:prstGeom>
          <a:solidFill>
            <a:srgbClr val="FFF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3364991"/>
            <a:ext cx="2395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版控 / 套件管理 / 跑測試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17520" y="3364991"/>
            <a:ext cx="28529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45A00"/>
                </a:solidFill>
              </a:rPr>
              <a:t>Bash 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0" y="3364991"/>
            <a:ext cx="32186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657A"/>
                </a:solidFill>
              </a:rPr>
              <a:t>需要真實 shell 環境，專用工具無法執行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35440" y="3364991"/>
            <a:ext cx="2926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A1818"/>
                </a:solidFill>
              </a:rPr>
              <a:t>✗（需確認）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3694176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7200" y="3803904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" y="3913632"/>
            <a:ext cx="5486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6FC8"/>
                </a:solidFill>
              </a:rPr>
              <a:t>BASH 執行特性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426110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222E"/>
                </a:solidFill>
              </a:rPr>
              <a:t>• 起完整 bash shell：支援 &amp;&amp;、pipe、環境變數展開，與手動在終端機執行完全相同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462686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222E"/>
                </a:solidFill>
              </a:rPr>
              <a:t>• run_in_background：命令移到背景執行，Claude 繼續推理；完成後才收到 &lt;task-notification&gt; 非同步通知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499262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222E"/>
                </a:solidFill>
              </a:rPr>
              <a:t>• timeout：預設 2 分鐘；長任務可設最長 10 分鐘（如 npm install）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" y="5358384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222E"/>
                </a:solidFill>
              </a:rPr>
              <a:t>• exit code：非 0 時 Claude 自動讀取 stderr，分析錯誤並嘗試修正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5815584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02920" y="5925312"/>
            <a:ext cx="5486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A1818"/>
                </a:solidFill>
              </a:rPr>
              <a:t>安全考量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6254496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222E"/>
                </a:solidFill>
              </a:rPr>
              <a:t>• 命令字串經過 shell 解析，有 injection 風險；Read/Edit 由 framework 直接組裝參數，沒有此問題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" y="6620256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222E"/>
                </a:solidFill>
              </a:rPr>
              <a:t>• 複合命令（&amp;&amp;, ||, ;, |）永遠不匹配 allow 規則 → 防止 'git status &amp;&amp; rm -rf /' 越獄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55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A222E"/>
                </a:solidFill>
              </a:rPr>
              <a:t>05  工具深入 — ToolSearch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657A"/>
                </a:solidFill>
              </a:rPr>
              <a:t>唯一預設載入的 meta 工具：讓其他工具的 schema 進入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50976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222E"/>
                </a:solidFill>
              </a:rPr>
              <a:t>工具 schema 全部預載會消耗大量 token，設計上分為兩種模式，由 ToolSearch 負責按需載入：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426464"/>
            <a:ext cx="5486400" cy="329184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481328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Pre-loaded（9）— session 開始即載入，零延遲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426464"/>
            <a:ext cx="5486400" cy="329184"/>
          </a:xfrm>
          <a:prstGeom prst="rect">
            <a:avLst/>
          </a:prstGeom>
          <a:solidFill>
            <a:srgbClr val="556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9088" y="1481328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Deferred（17）— 需先 ToolSearch 載入，+2-3 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810512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Read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057400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Glob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304288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Grep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551176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Edit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798064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Write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044952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Bash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291840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ToolSearch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538728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Agent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785616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Skill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9088" y="1810512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AskUserQuestion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9088" y="2057400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WebFetch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9088" y="2304288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WebSearch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9088" y="2551176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NotebookEdit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2798064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TaskCreate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3044952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TaskUpdate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19088" y="3291840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TaskStop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19088" y="3538728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TaskGet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19088" y="3785616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TaskList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2288" y="1810512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TaskOutput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62288" y="2057400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CronCreate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62288" y="2304288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CronDelete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551176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CronList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62288" y="2798064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EnterPlanMode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3044952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ExitPlanMode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62288" y="3291840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EnterWorktree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3538728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ExitWorktree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42232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4233672"/>
            <a:ext cx="5486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45A00"/>
                </a:solidFill>
              </a:rPr>
              <a:t>使用流程範例：呼叫 NOTEBOOKEDIT（DEFERRED 工具）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4581144"/>
            <a:ext cx="11155680" cy="157276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7512" y="4690872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❶  Claude 嘗試呼叫 NotebookEdit，但它在 &lt;available-deferred-tools&gt;（有名稱但無 schema，無法直接呼叫）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7512" y="5074920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❷  ToolSearch("select:NotebookEdit")  →  +1 round-trip，schema 載入 context（約 2-3 秒）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7512" y="5458968"/>
            <a:ext cx="10789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❸  NotebookEdit 現在可正常呼叫來編輯 .ipynb cell；後續同 session 不需再次 ToolSearch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" y="5861304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5657A"/>
                </a:solidFill>
              </a:rPr>
              <a:t>使用方式：select:ToolName（精確）或關鍵字搜尋如 'notebook jupyter'（不確定名稱時）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222E"/>
                </a:solidFill>
              </a:rPr>
              <a:t>06  工具深入 — Agent Tool（Subagent）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5486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6FC8"/>
                </a:solidFill>
              </a:rPr>
              <a:t>5 種 SUBAGENT_TYPE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89888"/>
            <a:ext cx="11274552" cy="3474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408176"/>
            <a:ext cx="24871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5657A"/>
                </a:solidFill>
              </a:rPr>
              <a:t>subagent_type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90672" y="1408176"/>
            <a:ext cx="3291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5657A"/>
                </a:solidFill>
              </a:rPr>
              <a:t>可用工具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3952" y="1408176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5657A"/>
                </a:solidFill>
              </a:rPr>
              <a:t>用途 &amp; 使用情境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64792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1819656"/>
            <a:ext cx="2487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6FC8"/>
                </a:solidFill>
              </a:rPr>
              <a:t>general-purpose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0672" y="1819656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22E"/>
                </a:solidFill>
              </a:rPr>
              <a:t>全部工具（*）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952" y="1819656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通用型，處理複雜多步驟任務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2075688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5657A"/>
                </a:solidFill>
              </a:rPr>
              <a:t>例：獨立重構 auth 模組，讀寫多個檔案、跑測試、循環修錯誤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368296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2423160"/>
            <a:ext cx="2487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6FC8"/>
                </a:solidFill>
              </a:rPr>
              <a:t>Explore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90672" y="2423160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22E"/>
                </a:solidFill>
              </a:rPr>
              <a:t>除 Edit、Write 等寫入工具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2" y="2423160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快速掃描 codebase（quick / medium / very thorough 三種深度）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2679191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5657A"/>
                </a:solidFill>
              </a:rPr>
              <a:t>例：「了解 src/payment/ 的模組架構與依賴關係」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97180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026664"/>
            <a:ext cx="2487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6FC8"/>
                </a:solidFill>
              </a:rPr>
              <a:t>Plan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90672" y="3026664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22E"/>
                </a:solidFill>
              </a:rPr>
              <a:t>同 Explore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3952" y="3026664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回傳 step-by-step 實作計畫，不直接改程式碼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73952" y="3282696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5657A"/>
                </a:solidFill>
              </a:rPr>
              <a:t>例：「規劃把 REST API 改成 GraphQL 的步驟與影響範圍」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575304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0352" y="3630168"/>
            <a:ext cx="2487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6FC8"/>
                </a:solidFill>
              </a:rPr>
              <a:t>claude-code-guide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90672" y="3630168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22E"/>
                </a:solidFill>
              </a:rPr>
              <a:t>Glob、Grep、Read、WebFetch、WebSearch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3952" y="3630168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回答 Claude Code / SDK / API 使用問題；支援 resume 繼續上次對話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73952" y="3886200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5657A"/>
                </a:solidFill>
              </a:rPr>
              <a:t>例：「Hooks 的 PreToolUse 怎麼設定阻斷？」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178808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0352" y="4233672"/>
            <a:ext cx="2487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6FC8"/>
                </a:solidFill>
              </a:rPr>
              <a:t>statusline-setup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90672" y="4233672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22E"/>
                </a:solidFill>
              </a:rPr>
              <a:t>Read、Edit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73952" y="4233672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設定 Claude Code status line 顯示內容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73952" y="4489704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5657A"/>
                </a:solidFill>
              </a:rPr>
              <a:t>例：「在 status bar 顯示目前使用的 model 名稱」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4782312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4892040"/>
            <a:ext cx="5486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6FC8"/>
                </a:solidFill>
              </a:rPr>
              <a:t>關鍵特性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5239512"/>
            <a:ext cx="11155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222E"/>
                </a:solidFill>
              </a:rPr>
              <a:t>• 獨立 context：每個 subagent 有自己的 context window，不繼承主 agent 對話歷史 → 防止主 context 被細節塞滿，這是 Context Management 的核心實作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5660136"/>
            <a:ext cx="11155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222E"/>
                </a:solidFill>
              </a:rPr>
              <a:t>• 不同 model：Explore subagent 實測使用 claude-haiku（快 / 省 token），主 agent 使用 claude-sonnet → 依任務複雜度自動分配 model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080760"/>
            <a:ext cx="11155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222E"/>
                </a:solidFill>
              </a:rPr>
              <a:t>• agentId resume：帶入 resume 參數可繼續同一個 subagent 的 context，不用重新建立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222E"/>
                </a:solidFill>
              </a:rPr>
              <a:t>06  工具深入 — Skill 系統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5486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6FC8"/>
                </a:solidFill>
              </a:rPr>
              <a:t>SKILL 是什麼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988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222E"/>
                </a:solidFill>
              </a:rPr>
              <a:t>• 放在 .claude/skills/&lt;name&gt;/SKILL.md 的 Markdown 指令檔，告訴 Claude 如何完成特定任務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4708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222E"/>
                </a:solidFill>
              </a:rPr>
              <a:t>• 可附帶腳本，在展開給 LLM 之前先預處理資料（! 前綴命令，LLM 看不到原始命令）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359152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450592"/>
            <a:ext cx="5486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6FC8"/>
                </a:solidFill>
              </a:rPr>
              <a:t>兩種觸發方式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816352"/>
            <a:ext cx="5394960" cy="3474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843784"/>
            <a:ext cx="5166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D6FC8"/>
                </a:solidFill>
              </a:rPr>
              <a:t>Trigger A  /skill-name  （使用者輸入）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182112"/>
            <a:ext cx="5166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• CLI 在框架層讀取 SKILL.md，展開為 isMeta:true 訊息注入 context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602736"/>
            <a:ext cx="5166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• Claude 不需呼叫 Skill tool，直接看到展開後的指令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2816352"/>
            <a:ext cx="5422392" cy="3474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843784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B21B6"/>
                </a:solidFill>
              </a:rPr>
              <a:t>Trigger B  Skill tool  （Claude 主動呼叫）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3182112"/>
            <a:ext cx="52120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• Claude 先 ToolSearch 載入 Skill schema，再呼叫 Skill("name", args)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3602736"/>
            <a:ext cx="52120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• Framework 處理 SKILL.md → tool_result 回傳給 LLM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078224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151376"/>
            <a:ext cx="5486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A1818"/>
                </a:solidFill>
              </a:rPr>
              <a:t>SKILL ALLOWED-TOOLS VS AGENT TOOLS 的本質差異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48056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• Skill allowed-tools = 軟性：LLM 仍可呼叫其他工具（需使用者確認），context 共享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93776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• Agent tools = 硬性：API 層隔離，LLM 根本看不到白名單以外的工具 schema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55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A222E"/>
                </a:solidFill>
              </a:rPr>
              <a:t>06  工具深入 — Task 任務管理工具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657A"/>
                </a:solidFill>
              </a:rPr>
              <a:t>追蹤 Bash run_in_background 產生的背景任務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50976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51560"/>
            <a:ext cx="11155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222E"/>
                </a:solidFill>
              </a:rPr>
              <a:t>Bash 呼叫 run_in_background=True 時，命令立即移往背景執行並返回 task_id，Task 工具負責追蹤這些背景任務。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44752"/>
            <a:ext cx="11274552" cy="31089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72184"/>
            <a:ext cx="22128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5657A"/>
                </a:solidFill>
              </a:rPr>
              <a:t>工具名稱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472184"/>
            <a:ext cx="89794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5657A"/>
                </a:solidFill>
              </a:rPr>
              <a:t>功能說明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73936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828800"/>
            <a:ext cx="221284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7A8E"/>
                </a:solidFill>
              </a:rPr>
              <a:t>TaskCreate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1828800"/>
            <a:ext cx="89794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建立任務記錄（通常由 Bash run_in_background 自動觸發）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048255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103120"/>
            <a:ext cx="221284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7A8E"/>
                </a:solidFill>
              </a:rPr>
              <a:t>TaskUpdate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103120"/>
            <a:ext cx="89794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更新任務的 metadata 或描述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322575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377439"/>
            <a:ext cx="221284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7A8E"/>
                </a:solidFill>
              </a:rPr>
              <a:t>TaskStop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8920" y="2377439"/>
            <a:ext cx="89794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強制停止一個正在執行的背景任務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596895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2651759"/>
            <a:ext cx="221284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7A8E"/>
                </a:solidFill>
              </a:rPr>
              <a:t>TaskGet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88920" y="2651759"/>
            <a:ext cx="89794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取得單一任務的目前狀態（running / completed / failed）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871215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2926079"/>
            <a:ext cx="221284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7A8E"/>
                </a:solidFill>
              </a:rPr>
              <a:t>TaskList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88920" y="2926079"/>
            <a:ext cx="89794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列出 session 中所有任務及其狀態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145535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3200399"/>
            <a:ext cx="221284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7A8E"/>
                </a:solidFill>
              </a:rPr>
              <a:t>TaskOutput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88920" y="3200399"/>
            <a:ext cx="89794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取得任務的完整 stdout / stderr 輸出內容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419855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3474719"/>
            <a:ext cx="221284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7A8E"/>
                </a:solidFill>
              </a:rPr>
              <a:t>CronCreate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88920" y="3474719"/>
            <a:ext cx="89794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建立 session-only 定時排程（Claude 退出後消失）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3694175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749039"/>
            <a:ext cx="221284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7A8E"/>
                </a:solidFill>
              </a:rPr>
              <a:t>CronDelete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88920" y="3749039"/>
            <a:ext cx="89794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刪除定時排程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3968495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4023359"/>
            <a:ext cx="221284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7A8E"/>
                </a:solidFill>
              </a:rPr>
              <a:t>CronList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88920" y="4023359"/>
            <a:ext cx="89794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列出所有定時排程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242815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7200" y="4334255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4407407"/>
            <a:ext cx="5486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7A8E"/>
                </a:solidFill>
              </a:rPr>
              <a:t>何時走 TASK 機制？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663439"/>
            <a:ext cx="11155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7A8E"/>
                </a:solidFill>
              </a:rPr>
              <a:t>判斷條件：命令跑很久  AND  等待期間有其他事可做  →  兩個條件都要成立才值得用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4846319"/>
            <a:ext cx="11155680" cy="5486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4846319"/>
            <a:ext cx="164592" cy="548640"/>
          </a:xfrm>
          <a:prstGeom prst="rect">
            <a:avLst/>
          </a:prstGeom>
          <a:solidFill>
            <a:srgbClr val="0E7A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4892039"/>
            <a:ext cx="3474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E7A8E"/>
                </a:solidFill>
              </a:rPr>
              <a:t>走 Task（run_in_background=True）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97680" y="4892039"/>
            <a:ext cx="7132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22E"/>
                </a:solidFill>
              </a:rPr>
              <a:t>長時間命令 + 等待期間有其他工作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5138927"/>
            <a:ext cx="10789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657A"/>
                </a:solidFill>
              </a:rPr>
              <a:t>npm test 跑 3 分鐘 → 同時 Explore subagent 分析其他模組；前後端測試同時平行跑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5431535"/>
            <a:ext cx="11155680" cy="5486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57200" y="5431535"/>
            <a:ext cx="164592" cy="548640"/>
          </a:xfrm>
          <a:prstGeom prst="rect">
            <a:avLst/>
          </a:prstGeom>
          <a:solidFill>
            <a:srgbClr val="B4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1520" y="5477255"/>
            <a:ext cx="3474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45A00"/>
                </a:solidFill>
              </a:rPr>
              <a:t>只滿足「跑很久」，但沒有其他事做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97680" y="5477255"/>
            <a:ext cx="7132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22E"/>
                </a:solidFill>
              </a:rPr>
              <a:t>同步跑就好，background 只是多管理一個 task_id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" y="5724143"/>
            <a:ext cx="10789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657A"/>
                </a:solidFill>
              </a:rPr>
              <a:t>例：只是裝套件，裝完才能繼續 → 直接 Bash("npm install") 等完即可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7200" y="6016751"/>
            <a:ext cx="11155680" cy="5486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57200" y="6016751"/>
            <a:ext cx="164592" cy="548640"/>
          </a:xfrm>
          <a:prstGeom prst="rect">
            <a:avLst/>
          </a:prstGeom>
          <a:solidFill>
            <a:srgbClr val="556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1520" y="6062471"/>
            <a:ext cx="3474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5657A"/>
                </a:solidFill>
              </a:rPr>
              <a:t>直接同步執行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297680" y="6062471"/>
            <a:ext cx="7132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22E"/>
                </a:solidFill>
              </a:rPr>
              <a:t>瞬間完成，或下一步必須等結果才能決定方向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1520" y="6309359"/>
            <a:ext cx="10789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657A"/>
                </a:solidFill>
              </a:rPr>
              <a:t>例：git diff 輸出決定要修哪個檔 → 必須等結果；git status / ls 等瞬間完成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200" y="6638543"/>
            <a:ext cx="11155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657A"/>
                </a:solidFill>
              </a:rPr>
              <a:t>實測（JSONL）：TaskOutput(task_id, block=True) 可直接等任務完成；TaskCreate 由 framework 自動觸發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55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A222E"/>
                </a:solidFill>
              </a:rPr>
              <a:t>07  系統機制 — Hooks（事件驅動擴充）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657A"/>
                </a:solidFill>
              </a:rPr>
              <a:t>預設無任何 hook；需自行在 settings.json 設定才會生效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50976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51560"/>
            <a:ext cx="5486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6FC8"/>
                </a:solidFill>
              </a:rPr>
              <a:t>關鍵 HOOK 事件（共 21 種，選幾個最常用的）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11274552" cy="585216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444752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57A50"/>
                </a:solidFill>
              </a:rPr>
              <a:t>PreToolUse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719072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657A"/>
                </a:solidFill>
              </a:rPr>
              <a:t>工具呼叫前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481328"/>
            <a:ext cx="8869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exit 2 可阻斷工具呼叫。例：偵測到 Bash rm 命令時自動阻止，防止意外刪除檔案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011680"/>
            <a:ext cx="11274552" cy="585216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066544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B45A00"/>
                </a:solidFill>
              </a:rPr>
              <a:t>PostToolUse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340864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657A"/>
                </a:solidFill>
              </a:rPr>
              <a:t>工具執行後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2103120"/>
            <a:ext cx="8869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例：Edit 存檔後自動跑 eslint，確保每次寫入都符合程式碼規範，不需手動執行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633472"/>
            <a:ext cx="11274552" cy="585216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688336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6FC8"/>
                </a:solidFill>
              </a:rPr>
              <a:t>UserPromptSubmit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962656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657A"/>
                </a:solidFill>
              </a:rPr>
              <a:t>使用者送出訊息前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2724912"/>
            <a:ext cx="8869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例：自動在每個 prompt 前注入 git status，讓 Claude 始終知道目前工作狀態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255264"/>
            <a:ext cx="11274552" cy="585216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3101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5657A"/>
                </a:solidFill>
              </a:rPr>
              <a:t>SessionStart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3584448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657A"/>
                </a:solidFill>
              </a:rPr>
              <a:t>對話開始時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3346704"/>
            <a:ext cx="8869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例：載入當前 sprint 的 ticket 列表，讓 Claude 自動了解本次任務範圍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877056"/>
            <a:ext cx="11274552" cy="585216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3931920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B21B6"/>
                </a:solidFill>
              </a:rPr>
              <a:t>Stop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206240"/>
            <a:ext cx="2011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657A"/>
                </a:solidFill>
              </a:rPr>
              <a:t>Claude 完成工作後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3968496"/>
            <a:ext cx="8869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例：自動 git push 並發 Slack 通知，或將工作摘要寫入 daily log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57200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4681728"/>
            <a:ext cx="5486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6FC8"/>
                </a:solidFill>
              </a:rPr>
              <a:t>HOOK 的四種執行類型 — 決定 HOOK 觸發後「怎麼做」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029200"/>
            <a:ext cx="5559552" cy="65836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5084064"/>
            <a:ext cx="53766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7A50"/>
                </a:solidFill>
              </a:rPr>
              <a:t>command — 執行 shell 命令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5340096"/>
            <a:ext cx="53766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22E"/>
                </a:solidFill>
              </a:rPr>
              <a:t>exit 0 = 放行；exit 2 = 取消這次 tool call；async = 背景跑，Claude 不等它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5486400"/>
            <a:ext cx="53766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657A"/>
                </a:solidFill>
              </a:rPr>
              <a:t>例：PreToolUse → 偵測到 rm 就 exit 2 阻止；PostToolUse → async 跑 eslint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44768" y="5029200"/>
            <a:ext cx="5559552" cy="65836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54496" y="5084064"/>
            <a:ext cx="53766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B21B6"/>
                </a:solidFill>
              </a:rPr>
              <a:t>prompt — 讓另一個 LLM 判斷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54496" y="5340096"/>
            <a:ext cx="53766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22E"/>
                </a:solidFill>
              </a:rPr>
              <a:t>用輕量 model（Haiku）評估，回傳 {ok: true/false}，ok=false 即阻斷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54496" y="5486400"/>
            <a:ext cx="53766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657A"/>
                </a:solidFill>
              </a:rPr>
              <a:t>例：PreToolUse → 讓 LLM 判斷這個 Bash 命令是否有危險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5742431"/>
            <a:ext cx="5559552" cy="65836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5797295"/>
            <a:ext cx="53766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6FC8"/>
                </a:solidFill>
              </a:rPr>
              <a:t>http — POST 到指定 URL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6053327"/>
            <a:ext cx="53766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22E"/>
                </a:solidFill>
              </a:rPr>
              <a:t>事件發生時呼叫 webhook，適合串接外部服務，不需額外程序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6199631"/>
            <a:ext cx="53766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657A"/>
                </a:solidFill>
              </a:rPr>
              <a:t>例：Stop → 發 Slack 通知「Claude 完成了」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44768" y="5742431"/>
            <a:ext cx="5559552" cy="65836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54496" y="5797295"/>
            <a:ext cx="537667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45A00"/>
                </a:solidFill>
              </a:rPr>
              <a:t>agent — 起 subagent 做複雜驗證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54496" y="6053327"/>
            <a:ext cx="53766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22E"/>
                </a:solidFill>
              </a:rPr>
              <a:t>最強大；subagent 有獨立 context 與工具，可多輪推理後才決定放行或阻斷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54496" y="6199631"/>
            <a:ext cx="53766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657A"/>
                </a:solidFill>
              </a:rPr>
              <a:t>例：PreToolUse → subagent 確認程式碼修改不破壞 API 契約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222E"/>
                </a:solidFill>
              </a:rPr>
              <a:t>07  系統機制 — Permission 系統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11274552" cy="347472"/>
          </a:xfrm>
          <a:prstGeom prst="rect">
            <a:avLst/>
          </a:prstGeom>
          <a:solidFill>
            <a:srgbClr val="AA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07899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Claude 模型的推論習慣（軟性限制）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463040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22E"/>
                </a:solidFill>
              </a:rPr>
              <a:t>這是 Claude 訓練出來的謹慎行為，不是程式碼規則。無法透過任何設定改變，因為改的是 framework，不是模型本身。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92224"/>
            <a:ext cx="11018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22E"/>
                </a:solidFill>
              </a:rPr>
              <a:t>• 操作超出使用者明確要求的範圍  →  傾向先問再做（例：被要求修 A，發現連 B 也有問題，會先確認）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194560"/>
            <a:ext cx="11018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22E"/>
                </a:solidFill>
              </a:rPr>
              <a:t>• 發現非預期的檔案、分支、或狀態  →  傾向先回報再繼續（例：發現有未提交的修改）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596896"/>
            <a:ext cx="110185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22E"/>
                </a:solidFill>
              </a:rPr>
              <a:t>• 任務指令模糊、有多種解讀方式  →  傾向暫停確認而不是自己猜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090672"/>
            <a:ext cx="11274552" cy="347472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18104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Tool 硬限制規則（由 framework 強制執行）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93008"/>
            <a:ext cx="11274552" cy="93268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493008"/>
            <a:ext cx="182880" cy="932688"/>
          </a:xfrm>
          <a:prstGeom prst="rect">
            <a:avLst/>
          </a:prstGeom>
          <a:solidFill>
            <a:srgbClr val="057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356616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57A50"/>
                </a:solidFill>
              </a:rPr>
              <a:t>Auto-allow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3858768"/>
            <a:ext cx="10789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Read、Glob、Grep、ToolSearch 等唯讀工具預設直接放行，不詢問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4133087"/>
            <a:ext cx="10789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657A"/>
                </a:solidFill>
              </a:rPr>
              <a:t>目的：讓 Claude 自由探索，維持 Agentic Loop 流暢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462272"/>
            <a:ext cx="11274552" cy="93268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462272"/>
            <a:ext cx="182880" cy="932688"/>
          </a:xfrm>
          <a:prstGeom prst="rect">
            <a:avLst/>
          </a:prstGeom>
          <a:solidFill>
            <a:srgbClr val="B4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4535424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B45A00"/>
                </a:solidFill>
              </a:rPr>
              <a:t>Plan Mode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828032"/>
            <a:ext cx="10789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EnterPlanMode 後，Edit / Write / Bash 等所有寫入 / 執行工具一律禁止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5102352"/>
            <a:ext cx="10789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657A"/>
                </a:solidFill>
              </a:rPr>
              <a:t>目的：規劃階段保證不會意外修改程式碼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431536"/>
            <a:ext cx="11274552" cy="93268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5431536"/>
            <a:ext cx="182880" cy="932688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55046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6FC8"/>
                </a:solidFill>
              </a:rPr>
              <a:t>Settings.json allow / deny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5797296"/>
            <a:ext cx="10789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permissions.allow 預先核准特定工具：「Edit」、「Bash(git:*)」、「WebFetch(domain:...)」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6071616"/>
            <a:ext cx="10789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657A"/>
                </a:solidFill>
              </a:rPr>
              <a:t>符合規則的命令直接放行；deny 則永久封鎖特定工具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92240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5657A"/>
                </a:solidFill>
              </a:rPr>
              <a:t>Bash allow 格式：prefix Bash(git:*) 匹配任何 git 開頭命令；複合命令（&amp;&amp;, ||）永遠不匹配，防越獄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55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A222E"/>
                </a:solidFill>
              </a:rPr>
              <a:t>08  資訊來源 — 本簡報的機制如何驗證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657A"/>
                </a:solidFill>
              </a:rPr>
              <a:t>三種來源各有優先順序：JSONL &gt; 官方文件 &gt; 原始碼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50976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70432"/>
            <a:ext cx="11274552" cy="144475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70432"/>
            <a:ext cx="201168" cy="1444752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261872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D6FC8"/>
                </a:solidFill>
              </a:rPr>
              <a:t>Session JSONL（最優先，最可信）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1591056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22E"/>
                </a:solidFill>
              </a:rPr>
              <a:t>Claude Code 在本機記錄每次對話的完整 JSONL，包含所有 tool call、推理內容、token 用量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1901952"/>
            <a:ext cx="10789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657A"/>
                </a:solidFill>
              </a:rPr>
              <a:t>記錄的是實際發生的行為，不是設計意圖。JSONL 與文件矛盾時，以 JSONL 為準。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194560"/>
            <a:ext cx="10789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657A"/>
                </a:solidFill>
              </a:rPr>
              <a:t>路徑：C:\Users\&lt;user&gt;\.claude\projects\&lt;project&gt;\&lt;session-id&gt;.jsonl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670048"/>
            <a:ext cx="11274552" cy="144475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670048"/>
            <a:ext cx="201168" cy="1444752"/>
          </a:xfrm>
          <a:prstGeom prst="rect">
            <a:avLst/>
          </a:prstGeom>
          <a:solidFill>
            <a:srgbClr val="057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2761488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57A50"/>
                </a:solidFill>
              </a:rPr>
              <a:t>官方文件（次優先）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" y="3090672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22E"/>
                </a:solidFill>
              </a:rPr>
              <a:t>code.claude.com/docs — 說明設計意圖與公開行為，快速查閱各功能用途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3401568"/>
            <a:ext cx="10789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657A"/>
                </a:solidFill>
              </a:rPr>
              <a:t>適合確認功能設計，但不一定涵蓋所有實作細節（例如 binary 層級的行為）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3694176"/>
            <a:ext cx="10789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657A"/>
                </a:solidFill>
              </a:rPr>
              <a:t>索引：https://code.claude.com/docs/llms.txt  （base URL：code.claude.com/docs/en/）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169663"/>
            <a:ext cx="11274552" cy="144475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169663"/>
            <a:ext cx="201168" cy="1444752"/>
          </a:xfrm>
          <a:prstGeom prst="rect">
            <a:avLst/>
          </a:prstGeom>
          <a:solidFill>
            <a:srgbClr val="B4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4261103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45A00"/>
                </a:solidFill>
              </a:rPr>
              <a:t>Claude Code 原始碼（最後手段）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" y="4590288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22E"/>
                </a:solidFill>
              </a:rPr>
              <a:t>Claude Code 是單一執行檔（Node.js 打包），內嵌 minified JS bundle，沒有加密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" y="4901183"/>
            <a:ext cx="10789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657A"/>
                </a:solidFill>
              </a:rPr>
              <a:t>可用 Python regex 或 strings + grep 搜尋邏輯，適合找文件沒寫到的細節實作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" y="5193792"/>
            <a:ext cx="10789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657A"/>
                </a:solidFill>
              </a:rPr>
              <a:t>執行檔：C:\Users\&lt;user&gt;\.local\share\claude\versions\&lt;version&gt;（約 237 MB）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222E"/>
                </a:solidFill>
              </a:rPr>
              <a:t>09  Takeaways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70432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261872"/>
            <a:ext cx="2377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D6FC8"/>
                </a:solidFill>
              </a:rPr>
              <a:t>不是工具包，是系統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71800" y="1261872"/>
            <a:ext cx="8732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四個 Reason 互相依賴：Tools 讓 Loop 落地，Loop 讓 Context 有意義，Context 讓長任務品質撐住，Model 決定每一步推理上限。缺一個，系統降級。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92024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011680"/>
            <a:ext cx="2377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57A50"/>
                </a:solidFill>
              </a:rPr>
              <a:t>Loop 的底層就是 ReAct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71800" y="2011680"/>
            <a:ext cx="8732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每一步 = Reason → tool_use → tool_result，批次平行發出，不含 tool_use 才終止。Subagent 有獨立 loop，context 不互污。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70048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761488"/>
            <a:ext cx="2377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B45A00"/>
                </a:solidFill>
              </a:rPr>
              <a:t>工具設計原則：保護 loop 流暢度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71800" y="2761488"/>
            <a:ext cx="8732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唯讀工具 auto-allow + 預載 → 探索零中斷。Edit 只傳 diff → token 最省。每個設計決策都在降低確認摩擦。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419856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511296"/>
            <a:ext cx="2377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5B21B6"/>
                </a:solidFill>
              </a:rPr>
              <a:t>隔離有兩種強度，用途不同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3511296"/>
            <a:ext cx="8732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Skill allowed-tools = 軟性（LLM 仍可呼叫其他工具）。Agent tools = 硬性 API 層隔離（LLM 根本看不到白名單以外的 schema）。不能互換。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169663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4261103"/>
            <a:ext cx="2377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AA1818"/>
                </a:solidFill>
              </a:rPr>
              <a:t>Permission 有兩層，只有一層能設定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71800" y="4261103"/>
            <a:ext cx="8732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Framework 規則（auto-allow / Plan Mode / settings.json）可設定。Claude 的訓練習慣（發現非預期狀態就暫停確認）無法透過任何設定改變，因為改的是 framework，不是 model。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919472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5010912"/>
            <a:ext cx="2377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E7A8E"/>
                </a:solidFill>
              </a:rPr>
              <a:t>各環節良率決定整體成功率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71800" y="5010912"/>
            <a:ext cx="8732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Agentic loop 的成功率是各環節的乘積：理解需求、選對工具、解讀結果、判斷下一步，每一步都必須正確。就像晶圓製造，單步良率的微小差距，在數十輪迭代後會被放大成巨大的整體差距。這也是 Strong Model 為何如此關鍵。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66928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5760720"/>
            <a:ext cx="2377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55657A"/>
                </a:solidFill>
              </a:rPr>
              <a:t>行為要靠 JSONL 驗證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71800" y="5760720"/>
            <a:ext cx="8732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文件說設計意圖，JSONL 說實際行為。本簡報所有機制描述都以 session JSONL 交叉驗證，兩者有時不同，以 JSONL 為準。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6419088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55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A222E"/>
                </a:solidFill>
              </a:rPr>
              <a:t>補充：使用 Code Agent 最大的陷阱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657A"/>
                </a:solidFill>
              </a:rPr>
              <a:t>當溝通 + 修正 + 審查的成本 &gt; 自己寫的成本，用 Agent 反而更慢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50976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1274552" cy="475488"/>
          </a:xfrm>
          <a:prstGeom prst="rect">
            <a:avLst/>
          </a:prstGeom>
          <a:solidFill>
            <a:srgbClr val="AA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115568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溝通成本 &gt; 實作成本  →  用 Agent 反而比自己寫更花時間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600200"/>
            <a:ext cx="5394960" cy="310896"/>
          </a:xfrm>
          <a:prstGeom prst="rect">
            <a:avLst/>
          </a:prstGeom>
          <a:solidFill>
            <a:srgbClr val="B4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627632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什麼時候容易踩到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938528"/>
            <a:ext cx="5166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任務邊界模糊：Agent 猜錯方向，做完才發現不是你要的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340864"/>
            <a:ext cx="5166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任務太大、無中間驗證點：跑完 30 步後才發現第 3 步就偏了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743200"/>
            <a:ext cx="5166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缺少 domain context：不知道你的慣例、架構決策、命名規範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145536"/>
            <a:ext cx="5166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輸出難以驗證：沒有 test / lint，只能人眼審查，成本高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36792" y="1600200"/>
            <a:ext cx="5394960" cy="310896"/>
          </a:xfrm>
          <a:prstGeom prst="rect">
            <a:avLst/>
          </a:prstGeom>
          <a:solidFill>
            <a:srgbClr val="057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627632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怎麼讓溝通成本 &lt; 實作成本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1938528"/>
            <a:ext cx="5166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任務要有明確完成條件：描述結果，不是描述方向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40864"/>
            <a:ext cx="5166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小步驟迭代：每一輪確認方向正確再繼續，不要一次丟大任務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2" y="2743200"/>
            <a:ext cx="5166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前置 context：CLAUDE.md、範例、架構說明先給好，不要讓 Agent 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3145536"/>
            <a:ext cx="5166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• 有驗證機制：能跑測試才能自我修正；不能驗證的風險轉嫁給你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639312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3749039"/>
            <a:ext cx="11274552" cy="47548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3822191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222E"/>
                </a:solidFill>
              </a:rPr>
              <a:t>Code Agent 的收益是真的，但前提是：任務描述清楚 + 驗證結果的成本夠低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55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A222E"/>
                </a:solidFill>
              </a:rPr>
              <a:t>補充：這份簡報是怎麼做出來的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008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5657A"/>
                </a:solidFill>
              </a:rPr>
              <a:t>Claude Code 用 python-pptx 程式化生成，全程沒有打開 PowerPoint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50976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5486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6FC8"/>
                </a:solidFill>
              </a:rPr>
              <a:t>製作流程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89888"/>
            <a:ext cx="11155680" cy="603504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389888"/>
            <a:ext cx="164592" cy="603504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44752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6FC8"/>
                </a:solidFill>
              </a:rPr>
              <a:t>① 使用者描述需求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463040"/>
            <a:ext cx="7543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用自然語言說明每張投影片的主題、內容邏輯、希望的視覺風格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029967"/>
            <a:ext cx="11155680" cy="603504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029967"/>
            <a:ext cx="164592" cy="603504"/>
          </a:xfrm>
          <a:prstGeom prst="rect">
            <a:avLst/>
          </a:prstGeom>
          <a:solidFill>
            <a:srgbClr val="057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084831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7A50"/>
                </a:solidFill>
              </a:rPr>
              <a:t>② Claude Code 寫 Python 腳本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39" y="2103120"/>
            <a:ext cx="7543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用 python-pptx 把版面、顏色、文字、矩形全部以程式碼定義；每個元素都有精確的座標與尺寸（inches）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670048"/>
            <a:ext cx="11155680" cy="603504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2670048"/>
            <a:ext cx="164592" cy="603504"/>
          </a:xfrm>
          <a:prstGeom prst="rect">
            <a:avLst/>
          </a:prstGeom>
          <a:solidFill>
            <a:srgbClr val="B4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724912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45A00"/>
                </a:solidFill>
              </a:rPr>
              <a:t>③ Bash 執行，產出 .pptx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77639" y="2743200"/>
            <a:ext cx="7543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執行 make_combined_ppt.py → 直接產出 claude_code_full.pptx，不需人工在 UI 拖拉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310128"/>
            <a:ext cx="11155680" cy="603504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3310128"/>
            <a:ext cx="164592" cy="603504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3364992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B21B6"/>
                </a:solidFill>
              </a:rPr>
              <a:t>④ 人眼確認，提供 feedback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3383280"/>
            <a:ext cx="7543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開啟 .pptx 看版面效果 → 文字截斷、超出邊界、顏色不對 → 回報給 Claude Code 修正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950208"/>
            <a:ext cx="11155680" cy="603504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3950208"/>
            <a:ext cx="164592" cy="603504"/>
          </a:xfrm>
          <a:prstGeom prst="rect">
            <a:avLst/>
          </a:prstGeom>
          <a:solidFill>
            <a:srgbClr val="556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005072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5657A"/>
                </a:solidFill>
              </a:rPr>
              <a:t>⑤ Edit 精確修改，重新執行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77639" y="4023360"/>
            <a:ext cx="7543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Claude Code 用 Edit tool 改腳本中的具體數值 → 重新執行 → 迭代直到滿意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681728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4773168"/>
            <a:ext cx="5486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6FC8"/>
                </a:solidFill>
              </a:rPr>
              <a:t>為什麼用程式碼，不直接用 POWERPOINT？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5120640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22E"/>
                </a:solidFill>
              </a:rPr>
              <a:t>• 版本控制：每次修改都是 git diff，可隨時還原任何版本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5504688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22E"/>
                </a:solidFill>
              </a:rPr>
              <a:t>• 批量一致：改一個顏色常數或 helper 函式，所有投影片同步更新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5888736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22E"/>
                </a:solidFill>
              </a:rPr>
              <a:t>• 精確定位：座標以 inches 指定，不會因手滑拖錯；文字框大小可計算不超出邊界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272784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22E"/>
                </a:solidFill>
              </a:rPr>
              <a:t>• 可審查：整份 PPT 的邏輯都在 900 行 Python 裡，Claude Code 可直接讀懂並修改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