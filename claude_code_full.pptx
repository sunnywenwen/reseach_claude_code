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BD6F8"/>
                </a:solidFill>
              </a:rPr>
              <a:t>Why It's Strong &amp;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858768"/>
            <a:ext cx="12188952" cy="54864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Hsiang-Wen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1274552" cy="5486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2529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1225295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Why Claude Code 特別強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82495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73936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C8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77393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4 個核心原因：Agentic Loop、Context Management、Strong Tools、Strong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0428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C8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30428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案例帶入：折扣碼重複使用的 Bug 修復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solidFill>
            <a:srgbClr val="05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529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85292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How It Works  機制深入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1012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0156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0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40156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Agent Architecture — ReAct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3192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0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39319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工具總覽 — 依功能分類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7083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4622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0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46227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工具深入：Read / Grep / Glob、Edit / Write、Bash、ToolSearch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0118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92624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0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992624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工具深入：Agent、Skill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3153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522976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0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552297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系統機制：Hooks、Permission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6188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0716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9072" y="60716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Take Away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52881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620256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A00"/>
                </a:solidFill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4752" y="662025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222E"/>
                </a:solidFill>
              </a:rPr>
              <a:t>Claude Code 為何特別強？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61872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657A"/>
                </a:solidFill>
              </a:rPr>
              <a:t>不是單點能力，而是完整的 Agentic Coding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55648"/>
            <a:ext cx="1100023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74519"/>
            <a:ext cx="53949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6FC8"/>
                </a:solidFill>
              </a:rPr>
              <a:t>01  Agentic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32887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工作方式是循環式：理解 → 行動 → 驗證，能持續根據結果修正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53949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3911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7A50"/>
                </a:solidFill>
              </a:rPr>
              <a:t>02  Context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32887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長任務過程中主動維持 context 品質，避免雜訊讓模型失焦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69080"/>
            <a:ext cx="53949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3367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5A00"/>
                </a:solidFill>
              </a:rPr>
              <a:t>03  Strong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2744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真正能搜尋、讀檔、改檔、執行驗證，不只是給建議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69080"/>
            <a:ext cx="53949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23367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21B6"/>
                </a:solidFill>
              </a:rPr>
              <a:t>04  Strong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72744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理解需求、規劃步驟、選對工具、解讀結果，並依任務分配最適模型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6FC8"/>
                </a:solidFill>
              </a:rPr>
              <a:t>Reason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22E"/>
                </a:solidFill>
              </a:rPr>
              <a:t>強 Agentic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657A"/>
                </a:solidFill>
              </a:rPr>
              <a:t>不是 Autocomplete，而是 Iterative Problem 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100023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工作方式是循環式：Gather Context → Take Action → Verify Results，不是一次性輸出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4436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更接近真實工程流程：真實寫 code 不是一次寫對，而是先理解、再改動、再驗證、再修正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85615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能持續根據結果修正方向：test failure、build error 都是下一輪推理的輸入，不是終點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7A50"/>
                </a:solidFill>
              </a:rPr>
              <a:t>Reason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22E"/>
                </a:solidFill>
              </a:rPr>
              <a:t>強 Context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657A"/>
                </a:solidFill>
              </a:rPr>
              <a:t>Loop 變長後，品質還能撐住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100023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長任務的瓶頸常常不是模型智力，而是 context 汙染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4436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任務一長，就會累積大量雜訊（舊方案、失敗嘗試、大量 log），容易讓模型失焦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85615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探索、規劃、實作可以分開處理，避免主上下文被過多細節塞滿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45A00"/>
                </a:solidFill>
              </a:rPr>
              <a:t>Reason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22E"/>
                </a:solidFill>
              </a:rPr>
              <a:t>強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657A"/>
                </a:solidFill>
              </a:rPr>
              <a:t>讓 Loop 每一步真正落地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100023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Claude Code 不是只回答，而是真的能動手做：搜尋 codebase、編輯檔案、執行命令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4436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Tools 讓 reasoning 變成 action：沒有工具，loop 只能停在分析，無法實際執行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85615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Verify 之所以有價值，是因為真的能執行測試、lint、build，再根據結果修正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Reason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22E"/>
                </a:solidFill>
              </a:rPr>
              <a:t>強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657A"/>
                </a:solidFill>
              </a:rPr>
              <a:t>決定整個系統的推理上限與工具使用精度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100023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前面有 loop、context management、tools，最後仍要靠 model 理解需求、規劃步驟、選對工具、解讀結果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4436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Tool calling 能力屬於 benchmark 領先群組（如 Berkeley Function Calling Leaderboard）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85615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• 依任務複雜度自動分配不同 model：探索任務用輕量模型（快 / 省成本），主推理用更強的模型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22E"/>
                </a:solidFill>
              </a:rPr>
              <a:t>案例實際帶入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657A"/>
                </a:solidFill>
              </a:rPr>
              <a:t>折扣碼只能用一次，但用戶發現可以重複使用 — 四個 Reason 如何共同作用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64208"/>
            <a:ext cx="1100023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1000232" cy="1170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3055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5A0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874519"/>
            <a:ext cx="7845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2E"/>
                </a:solidFill>
              </a:rPr>
              <a:t>grep 找到所有用到折扣碼的地方 → 讀各個驗證邏輯 → 確認哪裡沒有檢查是否已使用過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350008"/>
            <a:ext cx="7845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→ 沒有工具只能靠猜；有工具才能找出所有相關程式碼，不會有漏網之魚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2139696"/>
            <a:ext cx="2084831" cy="45720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0888" y="2148840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17520"/>
            <a:ext cx="11000232" cy="1170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64991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C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108960"/>
            <a:ext cx="7845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2E"/>
                </a:solidFill>
              </a:rPr>
              <a:t>Round 1：修結帳 API 的驗證 → 還是能重複用　Round 2：修訂單建立的驗證 → 還是有漏　Round 3：在資料庫層加限制 → 全過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584448"/>
            <a:ext cx="7845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→ 每次測試失敗都是下一輪的輸入；autocomplete 給完第一個修法就停了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3374136"/>
            <a:ext cx="2084831" cy="45720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0888" y="3383279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Agentic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251960"/>
            <a:ext cx="11000232" cy="1170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99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7A50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343400"/>
            <a:ext cx="7845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2E"/>
                </a:solidFill>
              </a:rPr>
              <a:t>同時追蹤結帳 API、訂單建立、折扣碼查詢邏輯，以及哪些地方已修、哪些待修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818888"/>
            <a:ext cx="7845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→ 多個地方同時進行，沒有管理容易遺漏，或把已修好的改回去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4608576"/>
            <a:ext cx="2084831" cy="457200"/>
          </a:xfrm>
          <a:prstGeom prst="rect">
            <a:avLst/>
          </a:prstGeom>
          <a:solidFill>
            <a:srgbClr val="05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4617720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Context Mgmt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486400"/>
            <a:ext cx="11000232" cy="1170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83387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577840"/>
            <a:ext cx="7845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2E"/>
                </a:solidFill>
              </a:rPr>
              <a:t>判斷要在哪一層加驗證才能真正防住：API 層？service 層？還是資料庫層？推理出最根本的解法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6053328"/>
            <a:ext cx="7845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→ 前面三步能 work，都建立在 model 每一步判斷正確：找對位置、選對修法、知道何時繼續迭代。任何一步推理錯，整個流程就跑偏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5843016"/>
            <a:ext cx="2084831" cy="4572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5852160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657A"/>
                </a:solidFill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A222E"/>
                </a:solidFill>
              </a:rPr>
              <a:t>機制深入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56432"/>
            <a:ext cx="1063447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444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55657A"/>
                </a:solidFill>
              </a:rPr>
              <a:t>前面看了 Why — 現在來看 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33087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22E"/>
                </a:solidFill>
              </a:rPr>
              <a:t>Agentic Loop 的每一步，底層都是一個 Tool Call 的循環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01  Agent Architecture — ReAct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使用者輸入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55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6FC8"/>
                </a:solidFill>
              </a:rPr>
              <a:t>LLM 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7A50"/>
                </a:solidFill>
              </a:rPr>
              <a:t>Tool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671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45A00"/>
                </a:solidFill>
              </a:rPr>
              <a:t>Tool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6FC8"/>
                </a:solidFill>
              </a:rPr>
              <a:t>LLM 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…直到完成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01168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1031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重要特性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450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單次 LLM 推理可在同一個 content 陣列中同時產生 text + 多個 tool_use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9077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多個 tool_use 批次發出 → 平行執行 → 所有結果一起回來 → 才進行下一次推理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64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Loop 終止條件：LLM 推理產生的回應不含任何 tool_use，控制權回到使用者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82219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Background Bash（run_in_background）不阻塞推理，結果以非同步通知送達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793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Subagent 有自己獨立的 agentic loop，不佔主 agent 的推理次數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02  工具總覽 (1/2) — 核心工具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★ = auto-allow，預設直接執行不詢問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1274552" cy="301752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唯讀探索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35607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961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4996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499616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讀取本地檔案；支援圖片、PDF、ipynb；25k token 上限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56231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39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20239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1920239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用 glob pattern 搜尋符合條件的檔案路徑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7685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40863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Grep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340863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2340863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直接 spawn ripgrep 搜尋檔案內容（bypass shell，無注入風險）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9747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761487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WebFetch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761487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761487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抓取 URL 網頁內容，HTML 自動轉 markdown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1810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82111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WebSearch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82111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3512" y="3182111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搜尋網路，取得 training data 以外的最新資訊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38727"/>
            <a:ext cx="11274552" cy="301752"/>
          </a:xfrm>
          <a:prstGeom prst="rect">
            <a:avLst/>
          </a:prstGeom>
          <a:solidFill>
            <a:srgbClr val="05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593591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寫入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5876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2277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0"/>
                </a:solidFill>
              </a:rPr>
              <a:t>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392277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3512" y="3922776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精確 old→new 替換；old_string 必須唯一；只傳 diff，token 最少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7939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343400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0"/>
                </a:solidFill>
              </a:rPr>
              <a:t>Write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34340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3512" y="4343400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覆寫整個檔案；適合新建或完整重寫；自動產生 diff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70001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764024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0"/>
                </a:solidFill>
              </a:rPr>
              <a:t>NotebookEdit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76402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53512" y="4764024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編輯 .ipynb cell（必須用此；直接 Edit 會報錯）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120640"/>
            <a:ext cx="11274552" cy="301752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175503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執行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44067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50468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45A00"/>
                </a:solidFill>
              </a:rPr>
              <a:t>Bash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55046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53512" y="5504688"/>
            <a:ext cx="8887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執行任意 shell 命令；支援 run_in_background；需注意 shell injection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86130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02  工具總覽 (2/2) — 系統與擴充工具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1274552" cy="301752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Meta / 系統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35607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ToolSearch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1" y="1490472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將 deferred 工具 schema 載入 context，才能呼叫它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5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1874519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啟動有獨立 context 的 subagent（可用不同 model）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0370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585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2258568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呼叫 .claude/skills/ 中定義的自訂指令集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87751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42615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AskUserQuestion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1" y="2642615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主動向使用者提問（唯一能讓 Claude 暫停等待輸入的工具）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71799"/>
            <a:ext cx="11274552" cy="301752"/>
          </a:xfrm>
          <a:prstGeom prst="rect">
            <a:avLst/>
          </a:prstGeom>
          <a:solidFill>
            <a:srgbClr val="AA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26663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任務管理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3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4670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1818"/>
                </a:solidFill>
              </a:rPr>
              <a:t>TaskCreate / TaskUpdate / TaskStop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3346703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建立、更新、停止任務；TaskStop 只能停背景 Bash 任務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75887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3075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1818"/>
                </a:solidFill>
              </a:rPr>
              <a:t>TaskGet / TaskList / TaskOutput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1" y="3730751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查詢任務狀態與輸出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59935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1479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1818"/>
                </a:solidFill>
              </a:rPr>
              <a:t>CronCreate / CronDelete / CronList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3631" y="4114799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建立 session-only 定時排程（Claude 退出後消失）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43983"/>
            <a:ext cx="11274552" cy="3017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98847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規劃 / 隔離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6402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1888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</a:rPr>
              <a:t>EnterPlanMode / ExitPlanMode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3631" y="4818887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進入規劃模式；計畫存至 ~/.claude/plans/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48071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202935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</a:rPr>
              <a:t>EnterWorktree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1" y="5202935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在 .claude/worktrees/ 建立隔離的 git worktree 環境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532119"/>
            <a:ext cx="11274552" cy="301752"/>
          </a:xfrm>
          <a:prstGeom prst="rect">
            <a:avLst/>
          </a:prstGeom>
          <a:solidFill>
            <a:srgbClr val="0E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86983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 (MCP)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5215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90702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mcp__ide__getDiagnostics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13631" y="5907023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取得 IDE lint / type 錯誤診斷（VS Code / JetBrains）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236207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9107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mcp__ide__executeCode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3631" y="6291071"/>
            <a:ext cx="7973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在 IDE 環境執行程式碼片段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620255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03  工具深入 — Read / Grep / Glob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同樣 auto-allow 且唯讀，但設計定位不同，不要用 Bash 代替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74552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97864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5657A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197864"/>
            <a:ext cx="3090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C8"/>
                </a:solidFill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197864"/>
            <a:ext cx="3090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0"/>
                </a:solidFill>
              </a:rPr>
              <a:t>Grep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1197864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A00"/>
                </a:solidFill>
              </a:rPr>
              <a:t>Glob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55064"/>
            <a:ext cx="2130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655064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讀取檔案完整內容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55064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搜尋哪些位置含特定字串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1655064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搜尋哪些路徑符合條件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7568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48840"/>
            <a:ext cx="2130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輸入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148840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檔案路徑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148840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regex pattern + 目錄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148840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glob 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6946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42616"/>
            <a:ext cx="2130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特殊能力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642616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圖片/PDF/ipynb 特殊解析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642616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直接 spawn ripgrep，不走 shell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64261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結果依修改時間排序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6324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36392"/>
            <a:ext cx="2130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token 限制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136392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25,000 tokens 硬上限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136392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3136392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5701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30168"/>
            <a:ext cx="2130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典型用法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630168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看已知檔案的內容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630168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找出哪個檔案含這段邏輯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363016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找出有哪些 .ts 檔案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50791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178807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實際使用順序範例 — 三種工具如何接力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48970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情境：找出折扣碼驗證邏輯在哪裡，再完整閱讀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800600"/>
            <a:ext cx="11155680" cy="12618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48920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① Glob("**/*.ts")  →  列出所有 TypeScript 檔案路徑清單，確認搜尋範圍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51480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② Grep("validateDiscount", "**/*.ts")  →  找出含該函式的檔案（例：discount.service.ts）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540410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③ Read("src/services/discount.service.ts")  →  讀取完整內容，理解驗證邏輯細節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135623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設計目的：三種工具皆 auto-allow（無確認中斷），從路徑定位到內容閱讀一氣呵成，比 Bash 更安全、更省確認次數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03  工具深入 — Edit vs 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5657A"/>
                </a:solidFill>
              </a:rPr>
              <a:t>面向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197864"/>
            <a:ext cx="4096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0"/>
                </a:solidFill>
              </a:rPr>
              <a:t>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197864"/>
            <a:ext cx="4407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C8"/>
                </a:solidFill>
              </a:rPr>
              <a:t>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8191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55064"/>
            <a:ext cx="2587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操作方式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55064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精確字串替換（old_string → new_string）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655064"/>
            <a:ext cx="4270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覆寫整個檔案內容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30552"/>
            <a:ext cx="2587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適用情境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30552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修改現有檔案的一部分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130552"/>
            <a:ext cx="4270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新建檔案、或整個檔案都要換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3288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06040"/>
            <a:ext cx="2587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唯一性限制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606040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old_string 必須在檔案中唯一，否則報錯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606040"/>
            <a:ext cx="4270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0837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81528"/>
            <a:ext cx="2587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token 消耗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081528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只傳 diff（少）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081528"/>
            <a:ext cx="4270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傳送整個檔案（多）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8386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57016"/>
            <a:ext cx="2587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diff 顯示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557016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自動計算 structuredPatch + gitDiff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557016"/>
            <a:ext cx="4270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同左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5935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32504"/>
            <a:ext cx="2587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replace_all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032504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7A50"/>
                </a:solidFill>
              </a:rPr>
              <a:t>支援：一次替換所有匹配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032504"/>
            <a:ext cx="4270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不適用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3484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562855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使用原則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920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日常修改首選 Edit（token 省、定位精準）；只有新建檔案或整個內容都要換時才用 Write。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03  工具深入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有專用工具時優先用專用工具；只有需要『執行』時才用 Bash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專用工具 VS BASH — 怎麼選？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08176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需要做的事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08176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0"/>
                </a:solidFill>
              </a:rPr>
              <a:t>用這個工具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08176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為何不用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4081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Auto-allow?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82495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82495"/>
            <a:ext cx="11274552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55648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搜尋哪個檔案含某字串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755648"/>
            <a:ext cx="2852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7A50"/>
                </a:solidFill>
              </a:rPr>
              <a:t>Grep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55648"/>
            <a:ext cx="3218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直接 spawn ripgrep，更快且無 injection 風險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75564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0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84831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084831"/>
            <a:ext cx="11274552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157984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找出哪些路徑符合條件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157984"/>
            <a:ext cx="2852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7A50"/>
                </a:solidFill>
              </a:rPr>
              <a:t>Glob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157984"/>
            <a:ext cx="3218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結果依修改時間排序，且不走 shell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5798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0"/>
                </a:solidFill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8716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487168"/>
            <a:ext cx="11274552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560320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讀取檔案內容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560320"/>
            <a:ext cx="2852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7A50"/>
                </a:solidFill>
              </a:rPr>
              <a:t>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560320"/>
            <a:ext cx="3218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支援 PDF / 圖片 / ipynb，有 token 保護上限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56032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0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8950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2889503"/>
            <a:ext cx="11274552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62656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修改檔案一部分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2962656"/>
            <a:ext cx="2852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7A50"/>
                </a:solidFill>
              </a:rPr>
              <a:t>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962656"/>
            <a:ext cx="3218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只傳 diff，token 省；old_string 定位精準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6265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1818"/>
                </a:solidFill>
              </a:rPr>
              <a:t>✗（需確認）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9183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291839"/>
            <a:ext cx="11274552" cy="402336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364991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版控 / 套件管理 / 跑測試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3364991"/>
            <a:ext cx="2852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A00"/>
                </a:solidFill>
              </a:rPr>
              <a:t>Bash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364991"/>
            <a:ext cx="3218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需要真實 shell 環境，專用工具無法執行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364991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1818"/>
                </a:solidFill>
              </a:rPr>
              <a:t>✗（需確認）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69417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80390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91363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BASH 執行特性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26110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起完整 bash shell：支援 &amp;&amp;、pipe、環境變數展開，與手動在終端機執行完全相同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6268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run_in_background：命令移到背景執行，Claude 繼續推理；完成後才收到 &lt;task-notification&gt; 非同步通知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99262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timeout：預設 2 分鐘；長任務可設最長 10 分鐘（如 npm install）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35838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exit code：非 0 時 Claude 自動讀取 stderr，分析錯誤並嘗試修正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81558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92531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1818"/>
                </a:solidFill>
              </a:rPr>
              <a:t>安全考量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544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命令字串經過 shell 解析，有 injection 風險；Read/Edit 由 framework 直接組裝參數，沒有此問題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62025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複合命令（&amp;&amp;, ||, ;, |）永遠不匹配 allow 規則 → 防止 'git status &amp;&amp; rm -rf /' 越獄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03  工具深入 — ToolSearch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唯一預設載入的 meta 工具：讓其他工具的 schema 進入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工具 schema 全部預載會消耗大量 token，設計上分為兩種模式，由 ToolSearch 負責按需載入：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26464"/>
            <a:ext cx="5486400" cy="329184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813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Pre-loaded（9）— session 開始即載入，零延遲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26464"/>
            <a:ext cx="5486400" cy="329184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4813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Deferred（17）— 需先 ToolSearch 載入，+2-3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Glob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0428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Grep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511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9806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449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Bash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ToolSearch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8561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81051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AskUserQuestion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05740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WebFetch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30428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WebSearch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55117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NotebookEdit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79806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TaskCreate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04495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TaskUpdate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29184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TaskStop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53872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TaskGet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78561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TaskList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81051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TaskOutput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205740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CronCreate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230428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CronDelete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55117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CronList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279806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EnterPlanMode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304495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ExitPlanMode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329184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EnterWorktree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353872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• ExitWorktree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4223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23367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A00"/>
                </a:solidFill>
              </a:rPr>
              <a:t>使用流程範例：呼叫 NOTEBOOKEDIT（DEFERRED 工具）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81144"/>
            <a:ext cx="11155680" cy="15727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4690872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❶  Claude 嘗試呼叫 NotebookEdit，但它在 &lt;available-deferred-tools&gt;（有名稱但無 schema，無法直接呼叫）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507492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❷  ToolSearch("select:NotebookEdit")  →  +1 round-trip，schema 載入 context（約 2-3 秒）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545896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❸  NotebookEdit 現在可正常呼叫來編輯 .ipynb cell；後續同 session 不需再次 ToolSearch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586130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</a:rPr>
              <a:t>使用方式：select:ToolName（精確）或關鍵字搜尋如 'notebook jupyter'（不確定名稱時）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04  工具深入 — Agent Tool（Subagent）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5 種 SUBAGENT_TYPE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08176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subagent_type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4081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可用工具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4081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用途 &amp; 使用情境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6479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19656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general-purpose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181965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全部工具（*）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196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通用型，處理複雜多步驟任務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7568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</a:rPr>
              <a:t>例：獨立重構 auth 模組，讀寫多個檔案、跑測試、循環修錯誤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6829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42316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42316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除 Edit、Write 等寫入工具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4231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快速掃描 codebase（quick / medium / very thorough 三種深度）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79191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</a:rPr>
              <a:t>例：「了解 src/payment/ 的模組架構與依賴關係」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026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302666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同 Explore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0266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回傳 step-by-step 實作計畫，不直接改程式碼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2826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</a:rPr>
              <a:t>例：「規劃把 REST API 改成 GraphQL 的步驟與影響範圍」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7530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63016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claude-code-guide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36301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Glob、Grep、Read、WebFetch、WebSearch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6301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回答 Claude Code / SDK / API 使用問題；支援 resume 繼續上次對話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8862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</a:rPr>
              <a:t>例：「Hooks 的 PreToolUse 怎麼設定阻斷？」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7880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23367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statusline-setup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423367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Read、Edit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2336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設定 Claude Code status line 顯示內容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48970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</a:rPr>
              <a:t>例：「在 status bar 顯示目前使用的 model 名稱」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8231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920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關鍵特性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3951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獨立 context：每個 subagent 有自己的 context window，不繼承主 agent 對話歷史 → 防止主 context 被細節塞滿，這是 Context Management 的核心實作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6013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不同 model：Explore subagent 實測使用 claude-haiku（快 / 省 token），主 agent 使用 claude-sonnet → 依任務複雜度自動分配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80760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agentId resume：帶入 resume 參數可繼續同一個 subagent 的 context，不用重新建立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04  工具深入 — Skill 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SKILL 是什麼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放在 .claude/skills/&lt;name&gt;/SKILL.md 的 Markdown 指令檔，告訴 Claude 如何完成特定任務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可附帶腳本，在展開給 LLM 之前先預處理資料（! 前綴命令，LLM 看不到原始命令）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5915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5059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兩種觸發方式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16352"/>
            <a:ext cx="539496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84378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6FC8"/>
                </a:solidFill>
              </a:rPr>
              <a:t>Trigger A  /skill-name  （使用者輸入）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82112"/>
            <a:ext cx="5166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CLI 在框架層讀取 SKILL.md，展開為 isMeta:true 訊息注入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02736"/>
            <a:ext cx="5166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Claude 不需呼叫 Skill tool，直接看到展開後的指令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16352"/>
            <a:ext cx="542239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84378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Trigger B  Skill tool  （Claude 主動呼叫）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8211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Claude 先 ToolSearch 載入 Skill schema，再呼叫 Skill("name", args)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60273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Framework 處理 SKILL.md → tool_result 回傳給 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7822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5137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1818"/>
                </a:solidFill>
              </a:rPr>
              <a:t>SKILL ALLOWED-TOOLS VS AGENT TOOLS 的本質差異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Skill allowed-tools = 軟性：LLM 仍可呼叫其他工具（需使用者確認），context 共享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Agent tools = 硬性：API 層隔離，LLM 根本看不到白名單以外的工具 schema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04  工具深入 — Task 任務管理工具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追蹤 Bash run_in_background 產生的背景任務；★ = auto-allow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Bash 呼叫 run_in_background=True 時，命令立即移往背景執行並返回 task_id，Task 工具負責追蹤這些背景任務。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44752"/>
            <a:ext cx="1127455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721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工具名稱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1472184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1472184"/>
            <a:ext cx="8851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功能說明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7393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TaskCreate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182880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828800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建立任務記錄（通常由 Bash run_in_background 自動觸發）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2140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762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TaskUpdate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21762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176272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更新任務的 metadata 或描述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6887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237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TaskStop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25237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3512" y="2523744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強制停止一個正在執行的背景任務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16351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71215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TaskGet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6312" y="287121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3512" y="2871215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取得單一任務的目前狀態（running / completed / failed）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6382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18687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TaskList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96312" y="3218687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3512" y="3218687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列出 session 中所有任務及其狀態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11295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566159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TaskOutput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6312" y="3566159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53512" y="3566159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取得任務的完整 stdout / stderr 輸出內容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5876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91363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CronCreate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96312" y="391363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3512" y="3913631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建立 session-only 定時排程（Claude 退出後消失）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0624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261103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CronDelete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96312" y="4261103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53512" y="4261103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刪除定時排程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5371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608575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CronList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6312" y="460857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53512" y="4608575"/>
            <a:ext cx="8851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列出所有定時排程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90118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02919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138927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8E"/>
                </a:solidFill>
              </a:rPr>
              <a:t>使用流程範例：背景跑測試，完成後取結果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486399"/>
            <a:ext cx="11155680" cy="9875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55778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❶  Bash("npm test --all", run_in_background=True)  →  立即返回 task_id，Claude 不等待，繼續推理其他工作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585215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❷  收到 &lt;task-notification: task_id completed&gt;  →  Claude 得知任務結束，可以去取結果了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612647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❸  TaskOutput(task_id)  →  取得完整 test 輸出，分析哪些失敗，進行下一輪修正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47103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CronCreate 則用於定時排程，例如：每 10 分鐘自動執行一次 lint check，session 期間持續運作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05  系統機制 — Hooks（事件驅動擴充）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關鍵 HOOK 事件（共 21 種，選幾個最常用的）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127455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0"/>
                </a:solidFill>
              </a:rPr>
              <a:t>PreToolUse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工具呼叫前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81328"/>
            <a:ext cx="8869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exit 2 可阻斷工具呼叫。例：偵測到 Bash rm 命令時自動阻止，防止意外刪除檔案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455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665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45A00"/>
                </a:solidFill>
              </a:rPr>
              <a:t>PostToolUse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4086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工具執行後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03120"/>
            <a:ext cx="8869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例：Edit 存檔後自動跑 eslint，確保每次寫入都符合程式碼規範，不需手動執行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1127455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688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UserPromptSubmit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96265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使用者送出訊息前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24912"/>
            <a:ext cx="8869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例：自動在每個 prompt 前注入 git status，讓 Claude 始終知道目前工作狀態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55264"/>
            <a:ext cx="1127455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3101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SessionStart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58444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對話開始時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346704"/>
            <a:ext cx="8869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例：載入當前 sprint 的 ticket 列表，讓 Claude 自動了解本次任務範圍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77056"/>
            <a:ext cx="1127455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319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0624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Claude 完成工作後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968496"/>
            <a:ext cx="8869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例：自動 git push 並發 Slack 通知，或將工作摘要寫入 daily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8172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HOOK 的四種執行類型 — 決定 HOOK 觸發後「怎麼做」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5559552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5376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0"/>
                </a:solidFill>
              </a:rPr>
              <a:t>command — 執行 shell 命令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340096"/>
            <a:ext cx="5376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最常用。exit 2 可阻斷；async 背景執行。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486400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例：PostToolUse → 存檔後自動跑 eslint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5029200"/>
            <a:ext cx="5559552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5084064"/>
            <a:ext cx="5376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</a:rPr>
              <a:t>prompt — 讓另一個 LLM 評估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5340096"/>
            <a:ext cx="5376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用輕量 model（Haiku）判斷是否允許，回傳 {ok: true/false}。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5486400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例：PreToolUse → 判斷 Bash 命令是否有危險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42431"/>
            <a:ext cx="5559552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797295"/>
            <a:ext cx="5376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http — POST 到指定 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053327"/>
            <a:ext cx="5376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呼叫 webhook，不需起額外程序，適合通知類場景。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199631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例：Stop → 發 Slack 通知「Claude 完成了」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5742431"/>
            <a:ext cx="5559552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5797295"/>
            <a:ext cx="5376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A00"/>
                </a:solidFill>
              </a:rPr>
              <a:t>agent — 起 subagent 做複雜驗證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6" y="6053327"/>
            <a:ext cx="5376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2E"/>
                </a:solidFill>
              </a:rPr>
              <a:t>最強大；subagent 有獨立 context 與工具，可多輪推理。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4496" y="6199631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例：PreToolUse → subagent 確認程式碼修改不破壞 API 契約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05  系統機制 — Permission 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47472"/>
          </a:xfrm>
          <a:prstGeom prst="rect">
            <a:avLst/>
          </a:prstGeom>
          <a:solidFill>
            <a:srgbClr val="AA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Claude 模型的推論習慣（軟性限制）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這是 Claude 訓練出來的謹慎行為，不是程式碼規則。無法透過任何設定改變，因為改的是 framework，不是模型本身。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11018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• 操作超出使用者明確要求的範圍  →  傾向先問再做（例：被要求修 A，發現連 B 也有問題，會先確認）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11018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• 發現非預期的檔案、分支、或狀態  →  傾向先回報再繼續（例：發現有未提交的修改）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96896"/>
            <a:ext cx="11018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• 任務指令模糊、有多種解讀方式  →  傾向暫停確認而不是自己猜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11274552" cy="347472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181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Tool 硬限制規則（由 framework 強制執行）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93008"/>
            <a:ext cx="11274552" cy="9326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93008"/>
            <a:ext cx="182880" cy="932688"/>
          </a:xfrm>
          <a:prstGeom prst="rect">
            <a:avLst/>
          </a:prstGeom>
          <a:solidFill>
            <a:srgbClr val="05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566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0"/>
                </a:solidFill>
              </a:rPr>
              <a:t>Auto-allow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8587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Read、Glob、Grep、ToolSearch 等唯讀工具預設直接放行，不詢問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33087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目的：讓 Claude 自由探索，維持 Agentic Loop 流暢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62272"/>
            <a:ext cx="11274552" cy="9326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62272"/>
            <a:ext cx="182880" cy="932688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354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45A00"/>
                </a:solidFill>
              </a:rPr>
              <a:t>Plan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828032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EnterPlanMode 後，Edit / Write / Bash 等所有寫入 / 執行工具一律禁止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102352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目的：規劃階段保證不會意外修改程式碼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31536"/>
            <a:ext cx="11274552" cy="9326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431536"/>
            <a:ext cx="182880" cy="932688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504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Settings.json allow / deny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797296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permissions.allow 預先核准特定工具：「Edit」、「Bash(git:*)」、「WebFetch(domain:...)」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6071616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符合規則的命令直接放行；deny 則永久封鎖特定工具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</a:rPr>
              <a:t>Bash allow 格式：prefix Bash(git:*) 匹配任何 git 開頭命令；複合命令（&amp;&amp;, ||）永遠不匹配，防越獄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06  資訊來源 — 本簡報的機制如何驗證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三種來源各有優先順序：JSONL &gt; 官方文件 &gt; 原始碼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74552" cy="14447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201168" cy="1444752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2618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C8"/>
                </a:solidFill>
              </a:rPr>
              <a:t>Session JSONL（最優先，最可信）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59105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Claude Code 在本機記錄每次對話的完整 JSONL，包含所有 tool call、推理內容、token 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0195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記錄的是實際發生的行為，不是設計意圖。JSONL 與文件矛盾時，以 JSONL 為準。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9456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路徑：C:\Users\&lt;user&gt;\.claude\projects\&lt;project&gt;\&lt;session-id&gt;.jsonl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70048"/>
            <a:ext cx="11274552" cy="14447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70048"/>
            <a:ext cx="201168" cy="1444752"/>
          </a:xfrm>
          <a:prstGeom prst="rect">
            <a:avLst/>
          </a:prstGeom>
          <a:solidFill>
            <a:srgbClr val="05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76148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0"/>
                </a:solidFill>
              </a:rPr>
              <a:t>官方文件（次優先）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90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code.claude.com/docs — 說明設計意圖與公開行為，快速查閱各功能用途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4015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適合確認功能設計，但不一定涵蓋所有實作細節（例如 binary 層級的行為）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69417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索引：https://code.claude.com/docs/llms.txt  （base URL：code.claude.com/docs/en/）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9663"/>
            <a:ext cx="11274552" cy="14447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69663"/>
            <a:ext cx="201168" cy="1444752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61103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A00"/>
                </a:solidFill>
              </a:rPr>
              <a:t>Claude Code 原始碼（最後手段）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59028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Claude Code 是單一執行檔（Node.js 打包），內嵌 minified JS bundle，沒有加密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901183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可用 Python regex 或 strings + grep 搜尋邏輯，適合找文件沒寫到的細節實作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193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執行檔：C:\Users\&lt;user&gt;\.local\share\claude\versions\&lt;version&gt;（約 237 MB）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22E"/>
                </a:solidFill>
              </a:rPr>
              <a:t>06 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D6FC8"/>
                </a:solidFill>
              </a:rPr>
              <a:t>Agentic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26187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批次 tool call 平行執行，不含 tool_use 才停止。Subagent 有獨立 loop，不佔主 agent 的推理次數。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7A50"/>
                </a:solidFill>
              </a:rPr>
              <a:t>工具設計哲學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011680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讀取工具預載且 auto-allow → 零中斷探索。Edit 只傳 diff → token 最少。每個工具針對最少確認次數最佳化。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7004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45A00"/>
                </a:solidFill>
              </a:rPr>
              <a:t>Pre-loaded vs Deferred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61488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9 個預載（零延遲）vs 16 個延遲載入（省 token，透過 ToolSearch，+2-3 秒）。根據使用頻率權衡 latency 與 token budget。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1985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1129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</a:rPr>
              <a:t>Skill &amp; Agent 的隔離差異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511296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Skill allowed-tools 是軟性（context 共享）。Agent tools 是硬性 API 層隔離（LLM 根本看不到其他工具 schema）。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966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61103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A1818"/>
                </a:solidFill>
              </a:rPr>
              <a:t>Permission 安全設計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261103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複合命令永遠不匹配 prefix 規則（binary 逆向確認）。Layer 2 判斷性確認無法用設定關閉。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1947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1091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5657A"/>
                </a:solidFill>
              </a:rPr>
              <a:t>Strong Model 貫穿始終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01091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前面每一個機制能正確運作，背後都是 model 在每一步做出正確判斷。工具再多，model 推理錯誤，整個系統就跑偏。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